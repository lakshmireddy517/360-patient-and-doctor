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82296"/>
          </a:xfrm>
          <a:prstGeom prst="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858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06040" y="822960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360° Patient Care &amp; Assistance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600200"/>
            <a:ext cx="9144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Segoe UI"/>
              </a:rPr>
              <a:t>Management System — Customer Solution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A2233"/>
                </a:solidFill>
                <a:latin typeface="Segoe UI"/>
              </a:rPr>
              <a:t>One coordinator. One Case. One journey — from first call to follow-up.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77639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2651760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062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Segoe UI"/>
              </a:rPr>
              <a:t>Coordinate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70916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people, vehicles, hospitals &amp; care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977639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3977639"/>
            <a:ext cx="26517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42062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Segoe UI"/>
              </a:rPr>
              <a:t>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70916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every event on one Case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77639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77639"/>
            <a:ext cx="265176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062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Segoe UI"/>
              </a:rPr>
              <a:t>Bill &amp; settle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70916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quotes, payments, payouts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3977639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3977639"/>
            <a:ext cx="26517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42062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Segoe UI"/>
              </a:rPr>
              <a:t>Real-time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4709160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live map, live sync, mobile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Customer Demonstration Deck  ·  Mapped to the 84-Point Product Blueprint  ·  Developed by pvalr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What this presentation covers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7452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6304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737360"/>
            <a:ext cx="822960" cy="8229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87452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Business 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8160" y="173736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87452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Solution 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2918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2900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End-to-End Workflow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0175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34840" y="3291840"/>
            <a:ext cx="822960" cy="82296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42900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Core Business Diagrams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30175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38160" y="32918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42900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Feature Walkthrough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8348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System Architecture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45720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34840" y="4846320"/>
            <a:ext cx="822960" cy="8229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98348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Business Benefits &amp; KPIs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45720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38160" y="484632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983480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Segoe UI"/>
              </a:rPr>
              <a:t>A single coordination platform for the entire non-clinical patient journey — before, during and after hospital treatment.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566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3566160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Patient Care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87751"/>
            <a:ext cx="316382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The whole non-clinical journey, managed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346703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39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Registration &amp; consent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749039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94175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Service requests &amp; triage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151375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96511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Case management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4553711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98847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Care services &amp; follow-up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19"/>
            <a:ext cx="356616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77839"/>
            <a:ext cx="3200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0F766E"/>
                </a:solidFill>
                <a:latin typeface="Segoe UI"/>
              </a:rPr>
              <a:t>✓  One Case ID ties it all together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874519"/>
            <a:ext cx="3566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874519"/>
            <a:ext cx="356616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Patient Transportation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587751"/>
            <a:ext cx="316382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Move patients safely, with verified custody.</a:t>
            </a:r>
          </a:p>
        </p:txBody>
      </p:sp>
      <p:sp>
        <p:nvSpPr>
          <p:cNvPr id="23" name="Oval 22"/>
          <p:cNvSpPr/>
          <p:nvPr/>
        </p:nvSpPr>
        <p:spPr>
          <a:xfrm>
            <a:off x="4507992" y="3346703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39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Pickup &amp; drop scheduling</a:t>
            </a:r>
          </a:p>
        </p:txBody>
      </p:sp>
      <p:sp>
        <p:nvSpPr>
          <p:cNvPr id="25" name="Oval 24"/>
          <p:cNvSpPr/>
          <p:nvPr/>
        </p:nvSpPr>
        <p:spPr>
          <a:xfrm>
            <a:off x="4507992" y="3749039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694175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Ambulance dispatch (PTV / BLS / ALS)</a:t>
            </a:r>
          </a:p>
        </p:txBody>
      </p:sp>
      <p:sp>
        <p:nvSpPr>
          <p:cNvPr id="27" name="Oval 26"/>
          <p:cNvSpPr/>
          <p:nvPr/>
        </p:nvSpPr>
        <p:spPr>
          <a:xfrm>
            <a:off x="4507992" y="4151375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096511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OTP-verified handover</a:t>
            </a:r>
          </a:p>
        </p:txBody>
      </p:sp>
      <p:sp>
        <p:nvSpPr>
          <p:cNvPr id="29" name="Oval 28"/>
          <p:cNvSpPr/>
          <p:nvPr/>
        </p:nvSpPr>
        <p:spPr>
          <a:xfrm>
            <a:off x="4507992" y="4553711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498847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Live GPS tracking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532119"/>
            <a:ext cx="356616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5577839"/>
            <a:ext cx="3200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Segoe UI"/>
              </a:rPr>
              <a:t>✓  Every handover is OTP-verified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0" y="1874519"/>
            <a:ext cx="3566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1874519"/>
            <a:ext cx="356616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Healthcare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2587751"/>
            <a:ext cx="316382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Hospitals, doctors &amp; records around the Case.</a:t>
            </a:r>
          </a:p>
        </p:txBody>
      </p:sp>
      <p:sp>
        <p:nvSpPr>
          <p:cNvPr id="36" name="Oval 35"/>
          <p:cNvSpPr/>
          <p:nvPr/>
        </p:nvSpPr>
        <p:spPr>
          <a:xfrm>
            <a:off x="8211312" y="3346703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291839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Hospital &amp; doctor directory</a:t>
            </a:r>
          </a:p>
        </p:txBody>
      </p:sp>
      <p:sp>
        <p:nvSpPr>
          <p:cNvPr id="38" name="Oval 37"/>
          <p:cNvSpPr/>
          <p:nvPr/>
        </p:nvSpPr>
        <p:spPr>
          <a:xfrm>
            <a:off x="8211312" y="3749039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694175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Appointment booking</a:t>
            </a:r>
          </a:p>
        </p:txBody>
      </p:sp>
      <p:sp>
        <p:nvSpPr>
          <p:cNvPr id="40" name="Oval 39"/>
          <p:cNvSpPr/>
          <p:nvPr/>
        </p:nvSpPr>
        <p:spPr>
          <a:xfrm>
            <a:off x="8211312" y="4151375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096511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Medicines &amp; vitals record</a:t>
            </a:r>
          </a:p>
        </p:txBody>
      </p:sp>
      <p:sp>
        <p:nvSpPr>
          <p:cNvPr id="42" name="Oval 41"/>
          <p:cNvSpPr/>
          <p:nvPr/>
        </p:nvSpPr>
        <p:spPr>
          <a:xfrm>
            <a:off x="8211312" y="4553711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4498847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1A2233"/>
                </a:solidFill>
                <a:latin typeface="Segoe UI"/>
              </a:rPr>
              <a:t>Consent-gated clinical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5532119"/>
            <a:ext cx="356616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6448" y="5577839"/>
            <a:ext cx="3200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Segoe UI"/>
              </a:rPr>
              <a:t>✓  Medical data stays protected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Business Challenges — why this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82296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  <a:latin typeface="Segoe UI"/>
              </a:rPr>
              <a:t>✗  Fragmented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Patients, transport, hospitals &amp; billing live in separate tools — no single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82296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  <a:latin typeface="Segoe UI"/>
              </a:rPr>
              <a:t>✗  No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70632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Events are not linked; hard to answer 'what happened on this case?'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82296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  <a:latin typeface="Segoe UI"/>
              </a:rPr>
              <a:t>✗  Manual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76472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Phone calls &amp; spreadsheets to dispatch agents, book beds, chase payments.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82296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  <a:latin typeface="Segoe UI"/>
              </a:rPr>
              <a:t>✗  Blind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82312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No live picture of agents, ambulances, emergencies or SLA breaches.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4924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82296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  <a:latin typeface="Segoe UI"/>
              </a:rPr>
              <a:t>✗  Patient anxiety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88152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Families travelling alone have no visibility into who is helping and when.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325880"/>
            <a:ext cx="5486400" cy="4937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50876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0B5D56"/>
                </a:solidFill>
                <a:latin typeface="Segoe UI"/>
              </a:rPr>
              <a:t>The 360°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057400"/>
            <a:ext cx="5029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2233"/>
                </a:solidFill>
                <a:latin typeface="Segoe UI"/>
              </a:rPr>
              <a:t>✓  One Case ID links every event, party and 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788920"/>
            <a:ext cx="5029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2233"/>
                </a:solidFill>
                <a:latin typeface="Segoe UI"/>
              </a:rPr>
              <a:t>✓  Case-oriented, not module-oriented — one journey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520440"/>
            <a:ext cx="5029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2233"/>
                </a:solidFill>
                <a:latin typeface="Segoe UI"/>
              </a:rPr>
              <a:t>✓  Command Centre dispatches with controlled 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251960"/>
            <a:ext cx="5029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2233"/>
                </a:solidFill>
                <a:latin typeface="Segoe UI"/>
              </a:rPr>
              <a:t>✓  Live map + live feed = real-time operational picture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983480"/>
            <a:ext cx="5029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2233"/>
                </a:solidFill>
                <a:latin typeface="Segoe UI"/>
              </a:rPr>
              <a:t>✓  Patient &amp; Agent apps keep everyone in sync, consent-gated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Solution Overview — the Case ID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1A2233"/>
                </a:solidFill>
                <a:latin typeface="Segoe UI"/>
              </a:rPr>
              <a:t>Every operational, clinical, communication &amp; financial event connects to one Patient Case ID.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6304" y="2103120"/>
            <a:ext cx="0" cy="201168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96304" y="2692327"/>
            <a:ext cx="2974260" cy="1422473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304" y="4114800"/>
            <a:ext cx="4206240" cy="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304" y="4114800"/>
            <a:ext cx="2974260" cy="1422472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304" y="4114800"/>
            <a:ext cx="0" cy="201168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122043" y="4114800"/>
            <a:ext cx="2974261" cy="1422472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890064" y="4114800"/>
            <a:ext cx="4206240" cy="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122043" y="2692327"/>
            <a:ext cx="2974261" cy="1422473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04764" y="1819656"/>
            <a:ext cx="178308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Patient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9024" y="2408863"/>
            <a:ext cx="1783080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Service Request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1004" y="3831336"/>
            <a:ext cx="1783080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Quote &amp; Pay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9024" y="5253808"/>
            <a:ext cx="1783080" cy="56692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4764" y="5843016"/>
            <a:ext cx="1783080" cy="56692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Ambulance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30503" y="5253808"/>
            <a:ext cx="1783080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Hospital / Doctor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524" y="3831336"/>
            <a:ext cx="1783080" cy="566928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Care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30503" y="2408863"/>
            <a:ext cx="1783080" cy="566928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Notifications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5163616" y="3182112"/>
            <a:ext cx="1865376" cy="1865376"/>
          </a:xfrm>
          <a:prstGeom prst="ellipse">
            <a:avLst/>
          </a:prstGeom>
          <a:solidFill>
            <a:srgbClr val="0F766E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PATIENT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CASE ID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CASE-2026-000145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46304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600" b="1" i="0">
                <a:solidFill>
                  <a:srgbClr val="0F766E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651760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520440"/>
            <a:ext cx="9144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How the whole journey connects under one Case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End-to-End Business Flow — the patient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From first request to case closure — one continuous, auditable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1. Register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create patient profile &amp; consent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11525" y="1819656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35884" y="1417320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2. Service Request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patient states the help needed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0209" y="1819656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14568" y="1417320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3. Triage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prioritize &amp; assess urgency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68893" y="1819656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93252" y="1417320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4. Quote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price the requested services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47577" y="1819656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71936" y="1417320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5. Consent &amp; Pay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approve &amp; pay the advance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2267712"/>
            <a:ext cx="0" cy="27432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2633472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6. Case Created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one Case ID for the journey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11525" y="3035808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35884" y="2633472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7. Dispatch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assign the right agent / ambulance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90209" y="3035808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14568" y="2633472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8. Pickup + OTP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verify the patient pickup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3" y="3035808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93252" y="2633472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9. Hospital + Handover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safe transfer, OTP confirmed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7577" y="3035808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71936" y="2633472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10. Appointment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book doctor / consultation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0" y="3483864"/>
            <a:ext cx="0" cy="27432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" y="3849624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11. Treatment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clinical care is delivered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11525" y="4251960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735884" y="3849624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12. Medicines &amp; Care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record meds, vitals &amp; caretaker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90209" y="4251960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14568" y="3849624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13. Final Billing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settle the full charges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68893" y="4251960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93252" y="3849624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14. Discharge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patient is released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47577" y="4251960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71936" y="3849624"/>
            <a:ext cx="2132380" cy="804672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15. Follow-up &amp; Close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check-in, then close the case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9204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B5D56"/>
                </a:solidFill>
                <a:latin typeface="Segoe UI"/>
              </a:rPr>
              <a:t>Everything below the line is automatic: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349240"/>
            <a:ext cx="2743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• Every step writes a Case timeline event with who/when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5349240"/>
            <a:ext cx="2743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• Emergencies auto-escalate to the emergency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349240"/>
            <a:ext cx="2743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• Payments trigger notifications (WhatsApp/SMS)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5349240"/>
            <a:ext cx="2743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• Portal &amp; apps update live in both directions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User Role Flow — who does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Role-based access; each actor sees only their part of the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ROLE-BASED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468880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468880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Patient / Guardian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81328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Book service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1746504"/>
            <a:ext cx="164592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28032" y="1481328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Track case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28232" y="1746504"/>
            <a:ext cx="164592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92824" y="1481328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Pay balance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93024" y="1746504"/>
            <a:ext cx="164592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57616" y="1481328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Get updates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76272"/>
            <a:ext cx="2468880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176272"/>
            <a:ext cx="2468880" cy="749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Command Centre (Admin)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286000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Review &amp; triage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3440" y="2551176"/>
            <a:ext cx="164592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28032" y="2286000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Create case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28232" y="2551176"/>
            <a:ext cx="164592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92824" y="2286000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Quote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3024" y="2551176"/>
            <a:ext cx="164592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57616" y="2286000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Dispatch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57816" y="2551176"/>
            <a:ext cx="164592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22408" y="2286000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Close 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80944"/>
            <a:ext cx="246888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980944"/>
            <a:ext cx="246888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Care Agent (field)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3090672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Accept job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63440" y="3355848"/>
            <a:ext cx="164592" cy="0"/>
          </a:xfrm>
          <a:prstGeom prst="line">
            <a:avLst/>
          </a:prstGeom>
          <a:ln w="15875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28032" y="3090672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En route + GPS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28232" y="3355848"/>
            <a:ext cx="164592" cy="0"/>
          </a:xfrm>
          <a:prstGeom prst="line">
            <a:avLst/>
          </a:prstGeom>
          <a:ln w="15875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92824" y="3090672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Pickup OTP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93024" y="3355848"/>
            <a:ext cx="164592" cy="0"/>
          </a:xfrm>
          <a:prstGeom prst="line">
            <a:avLst/>
          </a:prstGeom>
          <a:ln w="15875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57616" y="3090672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Handover OTP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85616"/>
            <a:ext cx="2468880" cy="7498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785616"/>
            <a:ext cx="2468880" cy="7498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EMT / Ambulance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3240" y="3895344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Readiness check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63440" y="4160520"/>
            <a:ext cx="164592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828032" y="3895344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Dispatch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28232" y="4160520"/>
            <a:ext cx="164592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592824" y="3895344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Transport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193024" y="4160520"/>
            <a:ext cx="164592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357616" y="3895344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Hospital arrival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590288"/>
            <a:ext cx="2468880" cy="7498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590288"/>
            <a:ext cx="2468880" cy="7498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Doctor / Hospital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63240" y="4700016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Appointment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663440" y="4965192"/>
            <a:ext cx="164592" cy="0"/>
          </a:xfrm>
          <a:prstGeom prst="line">
            <a:avLst/>
          </a:prstGeom>
          <a:ln w="15875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828032" y="4700016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Consultation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428232" y="4965192"/>
            <a:ext cx="164592" cy="0"/>
          </a:xfrm>
          <a:prstGeom prst="line">
            <a:avLst/>
          </a:prstGeom>
          <a:ln w="15875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592824" y="4700016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Prescription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193024" y="4965192"/>
            <a:ext cx="164592" cy="0"/>
          </a:xfrm>
          <a:prstGeom prst="line">
            <a:avLst/>
          </a:prstGeom>
          <a:ln w="15875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357616" y="4700016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Follow-up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394960"/>
            <a:ext cx="2468880" cy="7498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5394960"/>
            <a:ext cx="2468880" cy="7498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Finance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63240" y="5504688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Payments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663440" y="5769864"/>
            <a:ext cx="164592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828032" y="5504688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Settlements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28232" y="5769864"/>
            <a:ext cx="164592" cy="0"/>
          </a:xfrm>
          <a:prstGeom prst="line">
            <a:avLst/>
          </a:prstGeom>
          <a:ln w="15875">
            <a:solidFill>
              <a:srgbClr val="D9770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592824" y="5504688"/>
            <a:ext cx="16002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1A2233"/>
                </a:solidFill>
                <a:latin typeface="Segoe UI"/>
              </a:rPr>
              <a:t>Reconciliation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Request-to-Service-Delivery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From a booking to delivered, verified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51760" cy="1005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Patient books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services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05740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46120" y="1554480"/>
            <a:ext cx="2651760" cy="10058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Command Centre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reviews &amp; triages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205740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35040" y="1554480"/>
            <a:ext cx="2651760" cy="10058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Package &amp; Quote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prepared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205740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554480"/>
            <a:ext cx="2651760" cy="1005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Patient accepts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&amp; pays advance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2651760" cy="10058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5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Resources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assigned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388620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46120" y="3383280"/>
            <a:ext cx="2651760" cy="10058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6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Agent/Ambulance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delivers (OTP)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388620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35040" y="3383280"/>
            <a:ext cx="2651760" cy="100584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7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Care &amp; clinical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services delivered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3886200"/>
            <a:ext cx="1371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3383280"/>
            <a:ext cx="2651760" cy="100584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8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Final billing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&amp; closure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78440" y="2057400"/>
            <a:ext cx="0" cy="13258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04688"/>
            <a:ext cx="10972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0B5D56"/>
                </a:solidFill>
                <a:latin typeface="Segoe UI"/>
              </a:rPr>
              <a:t>Verified delivery: pickup &amp; hospital handover are confirmed by OTP; every service is logged on the Case with cost and status.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Case &amp; Request Life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Controlled state machine with exception paths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17904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72768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Under Review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3472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88336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Triage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49040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03904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Quote Sent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64608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19472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Accepted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0176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35040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Payment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5744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50608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Confirmed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11312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66176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In Progress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0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81744" y="1600200"/>
            <a:ext cx="1060704" cy="6400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Completed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42448" y="1920240"/>
            <a:ext cx="50292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497312" y="1600200"/>
            <a:ext cx="1060704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Closed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5176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2233"/>
                </a:solidFill>
                <a:latin typeface="Segoe UI"/>
              </a:rPr>
              <a:t>Exception transitions (available from active states):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063240"/>
            <a:ext cx="19202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/>
              </a:rPr>
              <a:t>Cancelled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3063240"/>
            <a:ext cx="19202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/>
              </a:rPr>
              <a:t>Rejected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063240"/>
            <a:ext cx="19202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64748B"/>
                </a:solidFill>
                <a:latin typeface="Segoe UI"/>
              </a:rPr>
              <a:t>Expired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063240"/>
            <a:ext cx="19202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D97706"/>
                </a:solidFill>
                <a:latin typeface="Segoe UI"/>
              </a:rPr>
              <a:t>On Hold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063240"/>
            <a:ext cx="19202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/>
              </a:rPr>
              <a:t>Emergency Escalated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11247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41648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B5D56"/>
                </a:solidFill>
                <a:latin typeface="Segoe UI"/>
              </a:rPr>
              <a:t>Business rules enforced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Illegal transitions are rejected by the state machine (e.g. cannot skip backwards).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18304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On Hold &amp; Emergency Escalated are recoverable — an operator can resume the journey.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47488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Every transition is written to the Case timeline with the acting user and timestamp.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76672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Emergency at any point triggers the configurable escalation path (never a substitute for 112).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46304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600" b="1" i="0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651760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Core Business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520440"/>
            <a:ext cx="9144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The models and flows that run the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Master Data Relationship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Every entity connects to exactly one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 MODEL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6304" y="2057399"/>
            <a:ext cx="0" cy="192024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96304" y="3017519"/>
            <a:ext cx="3286358" cy="96012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304" y="3977639"/>
            <a:ext cx="3286358" cy="96012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304" y="3977639"/>
            <a:ext cx="0" cy="192024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809945" y="3977639"/>
            <a:ext cx="3286359" cy="96012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809945" y="3017519"/>
            <a:ext cx="3286359" cy="96012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39004" y="1531619"/>
            <a:ext cx="2514600" cy="10515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PEOPLE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Patient · Guardian · Consent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362" y="2491739"/>
            <a:ext cx="2514600" cy="10515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REQUEST &amp; FINANCE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Service Request · Quote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Payment · Settlement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362" y="4411979"/>
            <a:ext cx="2514600" cy="105156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TRANSPORT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Agent · Ambulance · Driver/EMT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9004" y="5372099"/>
            <a:ext cx="2514600" cy="10515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CLINICAL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Hospital · Doctor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Appointment · Medicine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2645" y="4411979"/>
            <a:ext cx="2514600" cy="105156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CARE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Caretaker · Accommodation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Food / Transport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2645" y="2491739"/>
            <a:ext cx="2514600" cy="1051560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GOVERNANCE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Notification · Complaint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Timeline / Audit</a:t>
            </a:r>
          </a:p>
        </p:txBody>
      </p:sp>
      <p:sp>
        <p:nvSpPr>
          <p:cNvPr id="19" name="Oval 18"/>
          <p:cNvSpPr/>
          <p:nvPr/>
        </p:nvSpPr>
        <p:spPr>
          <a:xfrm>
            <a:off x="5227624" y="3108959"/>
            <a:ext cx="1737360" cy="1737360"/>
          </a:xfrm>
          <a:prstGeom prst="ellipse">
            <a:avLst/>
          </a:prstGeom>
          <a:solidFill>
            <a:srgbClr val="0F766E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CASE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single source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of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Approval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Quote acceptance · Settlement payout · Complaint SLA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194560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194560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Quote / 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618488"/>
            <a:ext cx="1600200" cy="512064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Draft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187452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81144" y="1618488"/>
            <a:ext cx="1600200" cy="5120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81344" y="187452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27648" y="1618488"/>
            <a:ext cx="1600200" cy="512064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Accepted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27848" y="187452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74152" y="1618488"/>
            <a:ext cx="1600200" cy="5120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Paid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219456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06040"/>
            <a:ext cx="219456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Settlement Payout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807208"/>
            <a:ext cx="1600200" cy="512064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Earnings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34840" y="306324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81144" y="2807208"/>
            <a:ext cx="1600200" cy="51206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81344" y="306324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27648" y="2807208"/>
            <a:ext cx="1600200" cy="5120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Approved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27848" y="306324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74152" y="2807208"/>
            <a:ext cx="1600200" cy="5120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Paid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94760"/>
            <a:ext cx="219456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94760"/>
            <a:ext cx="219456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Complaint SLA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3995928"/>
            <a:ext cx="1600200" cy="512064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Open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34840" y="425196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81144" y="3995928"/>
            <a:ext cx="1600200" cy="51206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Assigned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81344" y="425196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27648" y="3995928"/>
            <a:ext cx="1600200" cy="5120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Investigating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7848" y="425196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74152" y="3995928"/>
            <a:ext cx="1600200" cy="5120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Resolved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74352" y="4251960"/>
            <a:ext cx="146304" cy="0"/>
          </a:xfrm>
          <a:prstGeom prst="line">
            <a:avLst/>
          </a:prstGeom>
          <a:ln w="1651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20656" y="3995928"/>
            <a:ext cx="1600200" cy="512064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Closed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9204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B5D56"/>
                </a:solidFill>
                <a:latin typeface="Segoe UI"/>
              </a:rPr>
              <a:t>Controls &amp; SLA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1A2233"/>
                </a:solidFill>
                <a:latin typeface="Segoe UI"/>
              </a:rPr>
              <a:t>•  Configurable SLA per priority sets response &amp; resolution due-dates; breaches are flagged.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59552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1A2233"/>
                </a:solidFill>
                <a:latin typeface="Segoe UI"/>
              </a:rPr>
              <a:t>•  Settlements bundle unsettled earnings; payout requires approval then payment reference.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15584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1A2233"/>
                </a:solidFill>
                <a:latin typeface="Segoe UI"/>
              </a:rPr>
              <a:t>•  Every approval/step is audit-logged; complaints retain full communication history.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Patient Onboarding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Guided registration wizard — validated, consent-first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CUSTOMER JOURNEY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" y="1645920"/>
            <a:ext cx="1463040" cy="82296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Account</a:t>
            </a:r>
          </a:p>
        </p:txBody>
      </p:sp>
      <p:sp>
        <p:nvSpPr>
          <p:cNvPr id="8" name="Chevron 7"/>
          <p:cNvSpPr/>
          <p:nvPr/>
        </p:nvSpPr>
        <p:spPr>
          <a:xfrm>
            <a:off x="1965960" y="1645920"/>
            <a:ext cx="1463040" cy="82296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Personal</a:t>
            </a:r>
          </a:p>
        </p:txBody>
      </p:sp>
      <p:sp>
        <p:nvSpPr>
          <p:cNvPr id="9" name="Chevron 8"/>
          <p:cNvSpPr/>
          <p:nvPr/>
        </p:nvSpPr>
        <p:spPr>
          <a:xfrm>
            <a:off x="3474720" y="1645920"/>
            <a:ext cx="1463040" cy="82296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Contact</a:t>
            </a:r>
          </a:p>
        </p:txBody>
      </p:sp>
      <p:sp>
        <p:nvSpPr>
          <p:cNvPr id="10" name="Chevron 9"/>
          <p:cNvSpPr/>
          <p:nvPr/>
        </p:nvSpPr>
        <p:spPr>
          <a:xfrm>
            <a:off x="4983480" y="1645920"/>
            <a:ext cx="1463040" cy="82296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Medical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1645920"/>
            <a:ext cx="1463040" cy="82296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Documents</a:t>
            </a:r>
          </a:p>
        </p:txBody>
      </p:sp>
      <p:sp>
        <p:nvSpPr>
          <p:cNvPr id="12" name="Chevron 11"/>
          <p:cNvSpPr/>
          <p:nvPr/>
        </p:nvSpPr>
        <p:spPr>
          <a:xfrm>
            <a:off x="8001000" y="1645920"/>
            <a:ext cx="1463040" cy="82296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Guardian &amp; Consent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9509760" y="1645920"/>
            <a:ext cx="1463040" cy="822960"/>
          </a:xfrm>
          <a:prstGeom prst="chevron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7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Review &amp; Submit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82296" cy="1645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0779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218688"/>
            <a:ext cx="24688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Demographics, contact, emergency contact, language, identity/insurance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346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834640"/>
            <a:ext cx="82296" cy="1645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90779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Medical (as provided)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218688"/>
            <a:ext cx="24688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Problem, chronic conditions, allergies, blood group, medicines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8346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834640"/>
            <a:ext cx="82296" cy="1645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90779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Consent-first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218688"/>
            <a:ext cx="24688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Who can access what, for what purpose, from when to when — revocable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8346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2834640"/>
            <a:ext cx="82296" cy="1645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90779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Validated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3218688"/>
            <a:ext cx="24688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Required fields &amp; formats checked at each step; progress shown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1097280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B5D56"/>
                </a:solidFill>
                <a:latin typeface="Segoe UI"/>
              </a:rPr>
              <a:t>Business benefit:  faster, error-free onboarding with built-in consent &amp; audit — the patient's medical data is protected from day one and never exposed to operational roles by default.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Real-Time Sync 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Two-way live sync between apps and the Command Centre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REAL-TIME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1005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Mobile Apps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(Patient / Agent)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828800"/>
            <a:ext cx="2651760" cy="10058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Backend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Event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2377440" cy="10058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Command Centre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148840"/>
            <a:ext cx="1828800" cy="0"/>
          </a:xfrm>
          <a:prstGeom prst="line">
            <a:avLst/>
          </a:prstGeom>
          <a:ln w="28575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17520" y="178308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Segoe UI"/>
              </a:rPr>
              <a:t>action / GPS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2148840"/>
            <a:ext cx="1828800" cy="0"/>
          </a:xfrm>
          <a:prstGeom prst="line">
            <a:avLst/>
          </a:prstGeom>
          <a:ln w="28575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79" y="178308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Segoe UI"/>
              </a:rPr>
              <a:t>SSE push (live)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06640" y="2606040"/>
            <a:ext cx="1828800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79" y="265176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Segoe UI"/>
              </a:rPr>
              <a:t>dispatch / quote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926080" y="2606040"/>
            <a:ext cx="1828800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17520" y="265176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Segoe UI"/>
              </a:rPr>
              <a:t>auto-poll sync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Segoe UI"/>
              </a:rPr>
              <a:t>App → Portal (instant)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Patient books a service → appears in Requests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Agent goes Available → marker moves on the live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Agent accepts / OTP → case timeline &amp; dispatch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Patient pays → Finance panel &amp; dashboard update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383280"/>
            <a:ext cx="5303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493008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Segoe UI"/>
              </a:rPr>
              <a:t>Portal → App (auto-sync)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86200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Job dispatched → shows in Agent app automatically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343400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Quote sent → Patient app shows payable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800600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Status changes → Patient 'My Care' updates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257800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1A2233"/>
                </a:solidFill>
                <a:latin typeface="Segoe UI"/>
              </a:rPr>
              <a:t>•  No manual refresh anywhere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System Integration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Open, governed APIs — connect the surrounding ecosystem as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INTEGRATION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6304" y="2011681"/>
            <a:ext cx="0" cy="1874519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96304" y="2560714"/>
            <a:ext cx="3006589" cy="1325486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304" y="3886200"/>
            <a:ext cx="4251960" cy="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304" y="3886200"/>
            <a:ext cx="3006589" cy="1325485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304" y="3886200"/>
            <a:ext cx="0" cy="1874519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089714" y="3886200"/>
            <a:ext cx="3006590" cy="1325485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844344" y="3886200"/>
            <a:ext cx="4251960" cy="0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089714" y="2560714"/>
            <a:ext cx="3006590" cy="1325486"/>
          </a:xfrm>
          <a:prstGeom prst="line">
            <a:avLst/>
          </a:prstGeom>
          <a:ln w="25400">
            <a:solidFill>
              <a:srgbClr val="C4D0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13324" y="1728217"/>
            <a:ext cx="196596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ABDM / ABHA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913" y="2277250"/>
            <a:ext cx="1965960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Payment 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65284" y="3602736"/>
            <a:ext cx="1965960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WhatsApp / SMS /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913" y="4928221"/>
            <a:ext cx="1965960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Hospital HIS / Beds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3324" y="5477255"/>
            <a:ext cx="1965960" cy="56692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Maps &amp; GPS / 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6734" y="4928221"/>
            <a:ext cx="1965960" cy="566928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Accounting / Tally / ERP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1364" y="3602736"/>
            <a:ext cx="1965960" cy="56692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Government / 112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6734" y="2277250"/>
            <a:ext cx="1965960" cy="566928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Insurance / TPA</a:t>
            </a:r>
          </a:p>
        </p:txBody>
      </p:sp>
      <p:sp>
        <p:nvSpPr>
          <p:cNvPr id="23" name="Oval 22"/>
          <p:cNvSpPr/>
          <p:nvPr/>
        </p:nvSpPr>
        <p:spPr>
          <a:xfrm>
            <a:off x="5227624" y="3017520"/>
            <a:ext cx="1737360" cy="1737360"/>
          </a:xfrm>
          <a:prstGeom prst="ellipse">
            <a:avLst/>
          </a:prstGeom>
          <a:solidFill>
            <a:srgbClr val="0F766E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360° API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44768"/>
            <a:ext cx="1127455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Segoe UI"/>
              </a:rPr>
              <a:t>Integrations are optional &amp; consent-based; the platform is architected so each can be added safely without re-work.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Reporting &amp; Dashboard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CCFBF1"/>
                </a:solidFill>
                <a:latin typeface="Segoe UI"/>
              </a:rPr>
              <a:t>From live events to operational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13238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Events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(all modules)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11525" y="2011680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35884" y="1554480"/>
            <a:ext cx="2132380" cy="9144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Case Timeline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&amp; Audit Log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0209" y="2011680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14568" y="1554480"/>
            <a:ext cx="2132380" cy="9144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Aggregation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&amp; KPIs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68893" y="2011680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93252" y="1554480"/>
            <a:ext cx="213238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Live Dashboard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&amp; Ops Map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47577" y="2011680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71936" y="1554480"/>
            <a:ext cx="2132380" cy="9144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SLA / Finance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B5D56"/>
                </a:solidFill>
                <a:latin typeface="Segoe UI"/>
              </a:rPr>
              <a:t>Command Centre KPI snapshot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1783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83864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0F766E"/>
                </a:solidFill>
                <a:latin typeface="Segoe UI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1783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Open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6311" y="3337560"/>
            <a:ext cx="1783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1" y="3483864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1" y="4069080"/>
            <a:ext cx="1783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Emergencies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2542" y="3337560"/>
            <a:ext cx="1783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2" y="3483864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2542" y="4069080"/>
            <a:ext cx="1783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Avail. Agents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3" y="3337560"/>
            <a:ext cx="1783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3" y="3483864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  <a:latin typeface="Segoe UI"/>
              </a:rPr>
              <a:t>2/3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3" y="4069080"/>
            <a:ext cx="1783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Ambulances 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4" y="3337560"/>
            <a:ext cx="1783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4" y="3483864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  <a:latin typeface="Segoe UI"/>
              </a:rPr>
              <a:t>96%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4" y="4069080"/>
            <a:ext cx="1783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SLA On-time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35" y="3337560"/>
            <a:ext cx="1783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35" y="3483864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Segoe UI"/>
              </a:rPr>
              <a:t>₹1.4L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35" y="4069080"/>
            <a:ext cx="1783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Revenue Coordinated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Segoe UI"/>
              </a:rPr>
              <a:t>Cases by stage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038344"/>
            <a:ext cx="731520" cy="768096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24728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Segoe UI"/>
              </a:rPr>
              <a:t>Open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74520" y="5257800"/>
            <a:ext cx="73152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83080" y="5824728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Segoe UI"/>
              </a:rPr>
              <a:t>In progress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5586984"/>
            <a:ext cx="731520" cy="219456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5824728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Segoe UI"/>
              </a:rPr>
              <a:t>On hold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77640" y="4709160"/>
            <a:ext cx="731520" cy="10972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5824728"/>
            <a:ext cx="914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Segoe UI"/>
              </a:rPr>
              <a:t>Closed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709160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Segoe UI"/>
              </a:rPr>
              <a:t>Coverage of 84-point blueprint</a:t>
            </a:r>
          </a:p>
        </p:txBody>
      </p:sp>
      <p:sp>
        <p:nvSpPr>
          <p:cNvPr id="46" name="Block Arc 45"/>
          <p:cNvSpPr/>
          <p:nvPr/>
        </p:nvSpPr>
        <p:spPr>
          <a:xfrm>
            <a:off x="7680960" y="4937760"/>
            <a:ext cx="914400" cy="914400"/>
          </a:xfrm>
          <a:prstGeom prst="blockArc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5074920"/>
            <a:ext cx="2743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A2233"/>
                </a:solidFill>
                <a:latin typeface="Segoe UI"/>
              </a:rPr>
              <a:t>82 / 84 delivered</a:t>
            </a:r>
          </a:p>
          <a:p>
            <a:pPr algn="l"/>
            <a:r>
              <a:rPr sz="1100" b="1" i="0">
                <a:solidFill>
                  <a:srgbClr val="1A2233"/>
                </a:solidFill>
                <a:latin typeface="Segoe UI"/>
              </a:rPr>
              <a:t>· ABDM &amp; live AI on 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46304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600" b="1" i="0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651760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Feature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520440"/>
            <a:ext cx="9144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Every feature — objective, flow, screen, rules,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Operations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336499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Sign 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Dashboard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Live tiles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Drill into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Give the Command Centre a live, operational picture — not just a menu.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Role-based; only permitted data shown. Counts computed server-side.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Faster decisions; emergencies &amp; delays surfaced instantly.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Auto-refreshes live; one click into any case.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Live Operations — Map &amp; Feed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336499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1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2381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Subscribe (SSE)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GPS 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Map updates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Feed streams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See agents, ambulances and events moving in real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Only authorised staff; emergencies flagged 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Ride-hailing-style visibility; proactive control.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Live map (OpenStreetMap) + streaming event feed.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Service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336499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1" y="621792"/>
            <a:ext cx="336499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3626" y="621792"/>
            <a:ext cx="336499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2421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9971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Book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Triage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Convert to 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Turn a patient's request into a controlled, trackable case.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Illegal lifecycle transitions blocked; emergency must be assessed.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No lost requests; clear ownership &amp; SLA from minute 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Multi-service, pickup &amp; destination capture; live intake.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Segoe UI"/>
              </a:rPr>
              <a:t>⚕ Emergency flag directs to 112 — never a substitute for emergency medical care.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Case 360°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Open case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Tabs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Service 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Timeline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One workspace for the entire patient journey.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Consent-gated medical data; full audit on every action.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Everyone works from one source of truth per Case.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Overview · Plan · Dispatch · Healthcare · Clinical · Care · Finance.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Dispatch &amp; Pickup (OTP)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Assign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En route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Pickup OTP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Handover OTP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se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Assign the right agent/ambulance and verify safe pickup &amp; handover.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Readiness &amp; oxygen thresholds gate ambulance dispatch.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Right resource, verified custody, auditable handover.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Controlled assignment; live GPS; OTP handshake.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Billing — Quote to Payment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Package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Quote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Send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Accept &amp; Pay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se_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Transparent, rule-based pricing and clean payment tracking.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Amounts computed from rate cards; balance can't go negative.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Clear quotes, faster payment, auditable finances.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Configurable pricing engine; advance/balance; live updates.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Healthcare &amp; Clinical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62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Book appt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Confirm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Consultation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Medicine &amp; Vitals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se_cli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Coordinate appointments and record medicines &amp; vitals safely.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Recorded by authorised clinician; audit metadata auto-filled.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Complete, safe clinical record within the coordination journey.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Appointment workflow; medicine, intake, vitals.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Segoe UI"/>
              </a:rPr>
              <a:t>⚕ Platform stores &amp; coordinates; it does not diagnose or prescribe.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Care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62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37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Assign caretaker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Diary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Book stay/food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Transport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se_c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Coordinate caretakers, accommodation, food &amp; local transport.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Caretaker is a separate verified workforce; totals auto-calc.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Complete 'complete-care' package around the patient.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Daily activity diary; unified bookings on the Case.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Ambulance Fleet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62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37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Register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Readiness check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Gate dispatch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Live track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mbul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Dispatch only safe, ready, capability-matched ambulances.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Category-aware checklist; low-O₂/unchecked vehicles blocked.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Safer transport; fewer failed dispatches; compliance ready.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PTV/BLS/ALS; crew registry; live GPS tracking.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Notifications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Check consent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Deliver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Keep patients &amp; staff informed on their chosen channels.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Consent gating; marketing opt-in; emergency always delivers.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Timely updates; fewer calls; full communication log.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WhatsApp/SMS/Email/Push; event-driven; delivery stats.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Complaints &amp; SLA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Raise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Assign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Investigate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Resolve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Resolve grievances on time with full accountability.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SLA due-dates per priority; breaches flagged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Higher trust; measurable service quality.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Full comment history; reopen; breach tracking.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Finance — Settlements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Accrue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Batch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Approve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Pay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ttl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Pay agents &amp; partners accurately with reconciliation.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Payout requires approval + reference; earnings can't double-settle.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Accurate payouts; clean books; partner trust.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Earnings ledger; gross/deductions/net; auditable.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Patient App — Book &amp;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PATIENT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336499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1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2381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9931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Login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Book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My Care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Pay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94560"/>
            <a:ext cx="493776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65960" y="2377440"/>
            <a:ext cx="2331720" cy="44805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39112" y="2450592"/>
            <a:ext cx="2185416" cy="433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9112" y="2450592"/>
            <a:ext cx="2185416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39112" y="2596896"/>
            <a:ext cx="21854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360 Patient Care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30552" y="3200400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03704" y="3319272"/>
            <a:ext cx="219456" cy="219456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291840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Emergency · Book ·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30552" y="3730752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03704" y="3849624"/>
            <a:ext cx="219456" cy="219456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3822192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Book assistance (chips)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30552" y="4261104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03704" y="4379976"/>
            <a:ext cx="219456" cy="219456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4352544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Care packages 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0552" y="4791456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03704" y="4910328"/>
            <a:ext cx="219456" cy="21945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4882896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My Care — my cases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30552" y="5321808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03704" y="5440680"/>
            <a:ext cx="219456" cy="219456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5413248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Pay balance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39112" y="6327648"/>
            <a:ext cx="2185416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39112" y="6437376"/>
            <a:ext cx="728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0B5D56"/>
                </a:solidFill>
                <a:latin typeface="Segoe UI"/>
              </a:rPr>
              <a:t>Home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7584" y="6437376"/>
            <a:ext cx="728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0B5D56"/>
                </a:solidFill>
                <a:latin typeface="Segoe UI"/>
              </a:rPr>
              <a:t>My Care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6056" y="6437376"/>
            <a:ext cx="728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0B5D56"/>
                </a:solidFill>
                <a:latin typeface="Segoe UI"/>
              </a:rPr>
              <a:t>Profile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2194560"/>
            <a:ext cx="6217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3212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2267712"/>
            <a:ext cx="5943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96712" y="2578608"/>
            <a:ext cx="594360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Let patients request help and follow their own journey.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32120" y="3200400"/>
            <a:ext cx="6217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53212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6712" y="3273552"/>
            <a:ext cx="5943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96712" y="3584448"/>
            <a:ext cx="594360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Scoped to own account only; consent respected.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4206240"/>
            <a:ext cx="6217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3212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96712" y="4279392"/>
            <a:ext cx="5943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96712" y="4590288"/>
            <a:ext cx="594360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Convenience, transparency, faster payment.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32120" y="5212080"/>
            <a:ext cx="6217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3212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96712" y="5285232"/>
            <a:ext cx="5943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96712" y="5596128"/>
            <a:ext cx="594360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Bottom nav; live case status; pay balance in-app.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Care Agent App — Field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AGENT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11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Login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Available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Accept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OTP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94560"/>
            <a:ext cx="493776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65960" y="2377440"/>
            <a:ext cx="2331720" cy="44805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39112" y="2450592"/>
            <a:ext cx="2185416" cy="433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39112" y="2450592"/>
            <a:ext cx="2185416" cy="64008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9112" y="2596896"/>
            <a:ext cx="21854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360 Care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30552" y="3200400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03704" y="3319272"/>
            <a:ext cx="219456" cy="219456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Available · Offline · GPS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0552" y="3730752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03704" y="3849624"/>
            <a:ext cx="219456" cy="219456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822192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Assigned / Active /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30552" y="4261104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03704" y="4379976"/>
            <a:ext cx="219456" cy="21945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4352544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Job: Accept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30552" y="4791456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03704" y="4910328"/>
            <a:ext cx="219456" cy="21945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882896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En route + GPS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30552" y="5321808"/>
            <a:ext cx="2002536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03704" y="5440680"/>
            <a:ext cx="219456" cy="219456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4600" y="5413248"/>
            <a:ext cx="154533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A2233"/>
                </a:solidFill>
                <a:latin typeface="Segoe UI"/>
              </a:rPr>
              <a:t>Pickup / Handover OTP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39112" y="6327648"/>
            <a:ext cx="2185416" cy="457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39112" y="6437376"/>
            <a:ext cx="218541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50" b="1" i="0">
                <a:solidFill>
                  <a:srgbClr val="0B5D56"/>
                </a:solidFill>
                <a:latin typeface="Segoe UI"/>
              </a:rPr>
              <a:t>Jobs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2194560"/>
            <a:ext cx="6217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3212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6712" y="2267712"/>
            <a:ext cx="5943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96712" y="2578608"/>
            <a:ext cx="594360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Give field agents a simple, guided job console.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3200400"/>
            <a:ext cx="6217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3212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96712" y="3273552"/>
            <a:ext cx="5943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96712" y="3584448"/>
            <a:ext cx="594360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Only job-necessary info shown; OTP-verified custody.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32120" y="4206240"/>
            <a:ext cx="6217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3212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4279392"/>
            <a:ext cx="5943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96712" y="4590288"/>
            <a:ext cx="594360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Faster, error-free field execution; live GPS to control room.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32120" y="5212080"/>
            <a:ext cx="6217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3212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96712" y="5285232"/>
            <a:ext cx="5943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96712" y="5596128"/>
            <a:ext cx="594360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Duty toggles; job cards; pickup/handover OTP; earnings &amp; settlement.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46304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600" b="1" i="0">
                <a:solidFill>
                  <a:srgbClr val="0F766E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651760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Extended Modules — 84-point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520440"/>
            <a:ext cx="9144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The capabilities added to close every blueprint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Equipment 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Add stock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Check availability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Allocate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Return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Track medical-equipment stock and allocate it to a case/trip.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Stock-guarded — cannot over-allocate; capability thresholds gate dispatch.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No shortages mid-case; equipment cost traceable to a Case.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Oxygen, wheelchair, stretcher, monitor — live available vs allocated.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Accommodation Master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51504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List / filter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3064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55008" y="1371600"/>
            <a:ext cx="3651504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Nearby (GPS)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845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52816" y="1371600"/>
            <a:ext cx="3651504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Book to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ccommo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A reusable catalogue of partner stays near hospitals.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Active options only; distance computed from the hospital.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Fast, consistent lodging for out-station patients &amp; guardians.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Hotels / guest houses / dharamshala — price, rooms, distance.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Unified Trip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13238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Pickup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11525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35884" y="1371600"/>
            <a:ext cx="2132380" cy="56692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En route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902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14568" y="1371600"/>
            <a:ext cx="2132380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Onboard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6889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93252" y="1371600"/>
            <a:ext cx="2132380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At hospital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4757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71936" y="1371600"/>
            <a:ext cx="2132380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5. 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se_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One trip object linking pickup, destination, agent, vehicle &amp; distance.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Phase derived from live status; distance from pickup → hospital.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Every transport leg in one auditable view with timings.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Agent, ambulance, OTPs, distance &amp; journey phase together.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Cash Reconciliation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FINANCE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Collect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Cash-in-hand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Deposit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Reconcile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Track cash collected by agents and reconcile deposits.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No untracked cash — every collection tied to agent + case.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Clean books; zero informal collection; auditable deposits.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Per-agent cash-in-hand; one-click deposit-all with reference.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Consent &amp; Access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Grant consent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Scope &amp; expiry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Access logged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Revoke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n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Granular, revocable consent with a document access trail.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Least-privilege; who / what / purpose / until; every document view audited.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Privacy-by-design; DPDP-aligned; defensible access history.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Grant / revoke per scope; document download access-log.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Service Advisor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3586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51504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Enter needs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3064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5008" y="1371600"/>
            <a:ext cx="3651504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Recommend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2845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52816" y="1371600"/>
            <a:ext cx="3651504" cy="5669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Add to booking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rvice_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Recommend the right operational services from stated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Operational only — never diagnoses or advises clinically.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Right services bundled for travelling-alone / out-station patients.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Pickup, admission, accommodation, caretaker, transport — with reasons.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Segoe UI"/>
              </a:rPr>
              <a:t>⚕ Operational recommendation only — not medical advice.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Operational Reports &amp; SLA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21792"/>
            <a:ext cx="1126540" cy="274320"/>
          </a:xfrm>
          <a:prstGeom prst="roundRect">
            <a:avLst/>
          </a:prstGeom>
          <a:solidFill>
            <a:srgbClr val="0A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6036" y="621792"/>
            <a:ext cx="336499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1" y="621792"/>
            <a:ext cx="435254" cy="27432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B5D56"/>
                </a:solidFill>
                <a:latin typeface="Segoe UI"/>
              </a:rPr>
              <a:t>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B5D56"/>
                </a:solidFill>
                <a:latin typeface="Segoe UI"/>
              </a:rPr>
              <a:t>Process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02052" cy="56692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Live events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1197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05556" y="1371600"/>
            <a:ext cx="2702052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Aggregate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9553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53912" y="1371600"/>
            <a:ext cx="2702052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Report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77909" y="1655064"/>
            <a:ext cx="10241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2268" y="1371600"/>
            <a:ext cx="2702052" cy="56692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Act on breaches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6126480" cy="3977639"/>
          </a:xfrm>
          <a:prstGeom prst="rect">
            <a:avLst/>
          </a:prstGeom>
          <a:solidFill>
            <a:srgbClr val="ECF1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14574"/>
            <a:ext cx="5943600" cy="37284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2862"/>
            <a:ext cx="5907024" cy="369189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766560" y="219456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2194560"/>
            <a:ext cx="82296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26771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Segoe UI"/>
              </a:rPr>
              <a:t>Business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57860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Command-Centre KPIs and response-SLA tracking in one place.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20040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3200400"/>
            <a:ext cx="82296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327355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Validation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358444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SLA target set by priority; breaches counted &amp; surfaced.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20624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4206240"/>
            <a:ext cx="82296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427939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Business Benefits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459028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Data-driven ops; delays &amp; SLA breaches visible instantly.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5212080"/>
            <a:ext cx="4983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5212080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5285232"/>
            <a:ext cx="4709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Key Highlights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5596128"/>
            <a:ext cx="47091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A2233"/>
                </a:solidFill>
                <a:latin typeface="Segoe UI"/>
              </a:rPr>
              <a:t>Demand, dispatch, workforce &amp; fleet KPIs; SLA-breach tile.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Business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20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2233"/>
                </a:solidFill>
                <a:latin typeface="Segoe UI"/>
              </a:rPr>
              <a:t>Single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1089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One Case ID links every event, party &amp; payment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18288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874520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2233"/>
                </a:solidFill>
                <a:latin typeface="Segoe UI"/>
              </a:rPr>
              <a:t>Faster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97480"/>
            <a:ext cx="31089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Dispatch, book, bill from one console — minutes not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463040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83880" y="18288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74520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2233"/>
                </a:solidFill>
                <a:latin typeface="Segoe UI"/>
              </a:rPr>
              <a:t>Real-time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697480"/>
            <a:ext cx="31089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Live map &amp; feed; emergencies &amp; SLA breaches surfaced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356616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51960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2233"/>
                </a:solidFill>
                <a:latin typeface="Segoe UI"/>
              </a:rPr>
              <a:t>Verified &amp; auditable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31089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OTP custody + full audit on every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840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840480"/>
            <a:ext cx="3566160" cy="10972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80560" y="420624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251960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2233"/>
                </a:solidFill>
                <a:latin typeface="Segoe UI"/>
              </a:rPr>
              <a:t>Better patient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074920"/>
            <a:ext cx="31089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Transparency, updates and in-app payments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3840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3840480"/>
            <a:ext cx="356616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83880" y="420624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251960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2233"/>
                </a:solidFill>
                <a:latin typeface="Segoe UI"/>
              </a:rPr>
              <a:t>Revenue integrity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074920"/>
            <a:ext cx="31089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Rule-based pricing, clean payments &amp; partner settlements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Key KPIs the platform improves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19456"/>
            <a:ext cx="1965960" cy="457200"/>
          </a:xfrm>
          <a:prstGeom prst="roundRect">
            <a:avLst/>
          </a:prstGeom>
          <a:solidFill>
            <a:srgbClr val="0B5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MEASURABLE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566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0F766E"/>
                </a:solidFill>
                <a:latin typeface="Segoe UI"/>
              </a:rPr>
              <a:t>↓ 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566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Coordination time per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828800"/>
            <a:ext cx="3566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743200"/>
            <a:ext cx="3566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Events traceable to a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5544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828800"/>
            <a:ext cx="3566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  <a:latin typeface="Segoe UI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743200"/>
            <a:ext cx="3566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Dispatch accuracy (skill/GPS-matched)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3566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16A34A"/>
                </a:solidFill>
                <a:latin typeface="Segoe UI"/>
              </a:rPr>
              <a:t>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3566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Response &amp; resolution tracked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749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023360"/>
            <a:ext cx="3566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D97706"/>
                </a:solidFill>
                <a:latin typeface="Segoe U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937760"/>
            <a:ext cx="3566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Untracked cash / informal collection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3749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4023360"/>
            <a:ext cx="3566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0891B2"/>
                </a:solidFill>
                <a:latin typeface="Segoe UI"/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937760"/>
            <a:ext cx="3566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Fleet &amp; agent utilisation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360° Patient Care &amp; Assistance  ·  Developed by pvalr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One trusted coordinator, one Case, one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83280"/>
            <a:ext cx="96012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Segoe UI"/>
              </a:rPr>
              <a:t>The patient explains what help is needed — the platform coordinates the right people, vehicles, hospitals, doctors, care, payments and follow-up, with a complete, auditable, real-time journey.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846320"/>
            <a:ext cx="2377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02920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0B5D56"/>
                </a:solidFill>
                <a:latin typeface="Segoe UI"/>
              </a:rPr>
              <a:t>1. Requirements workshop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4846320"/>
            <a:ext cx="2377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502920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0B5D56"/>
                </a:solidFill>
                <a:latin typeface="Segoe UI"/>
              </a:rPr>
              <a:t>2. MVP backlog sign-off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846320"/>
            <a:ext cx="2377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502920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0B5D56"/>
                </a:solidFill>
                <a:latin typeface="Segoe UI"/>
              </a:rPr>
              <a:t>3. Integrations (ABDM/Payment)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4846320"/>
            <a:ext cx="2377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502920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0B5D56"/>
                </a:solidFill>
                <a:latin typeface="Segoe UI"/>
              </a:rPr>
              <a:t>4. Security hardening &amp; go-live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Thank you  ·  Developed by pvalr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