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0175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82296"/>
          </a:xfrm>
          <a:prstGeom prst="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858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06040" y="822960"/>
            <a:ext cx="9144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360° Patient Care &amp; Assistance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600200"/>
            <a:ext cx="9144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Segoe UI"/>
              </a:rPr>
              <a:t>Management System — Customer Solution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A2233"/>
                </a:solidFill>
                <a:latin typeface="Segoe UI"/>
              </a:rPr>
              <a:t>One coordinator. One Case. One journey — from first call to follow-up.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77639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2651760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20624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  <a:latin typeface="Segoe UI"/>
              </a:rPr>
              <a:t>Coordinate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709160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people, vehicles, hospitals &amp; care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977639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3977639"/>
            <a:ext cx="2651760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420624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2563EB"/>
                </a:solidFill>
                <a:latin typeface="Segoe UI"/>
              </a:rPr>
              <a:t>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4709160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every event on one Case 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77639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77639"/>
            <a:ext cx="2651760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20624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D97706"/>
                </a:solidFill>
                <a:latin typeface="Segoe UI"/>
              </a:rPr>
              <a:t>Bill &amp; settle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709160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quotes, payments, payouts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3977639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3977639"/>
            <a:ext cx="26517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420624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Segoe UI"/>
              </a:rPr>
              <a:t>Real-time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4709160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live map, live sync, mobile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Segoe UI"/>
              </a:rPr>
              <a:t>Customer Demonstration Deck  ·  Mapped to the 84-Point Product Blueprint  ·  Developed by pvalr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What this presentation covers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737360"/>
            <a:ext cx="822960" cy="8229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87452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Executive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737360"/>
            <a:ext cx="822960" cy="82296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87452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Business Challenges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46304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38160" y="173736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87452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Solution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1752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29184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42900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End-to-End Workflow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01752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34840" y="3291840"/>
            <a:ext cx="822960" cy="822960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42900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Core Business Diagrams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301752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8160" y="3291840"/>
            <a:ext cx="822960" cy="8229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42900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Feature Walkthrough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7200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98348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System Architecture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457200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34840" y="4846320"/>
            <a:ext cx="822960" cy="82296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98348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Business Benefits &amp; KPIs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457200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38160" y="484632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4983480"/>
            <a:ext cx="22860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Conclusion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Executive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A2233"/>
                </a:solidFill>
                <a:latin typeface="Segoe UI"/>
              </a:rPr>
              <a:t>A single coordination platform for the entire non-clinical patient journey — before, during and after hospital treatment.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661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3566160" cy="5669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Patient Care Coordination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7751"/>
            <a:ext cx="316382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The whole non-clinical journey, managed in one place.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3346703"/>
            <a:ext cx="91440" cy="914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39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Registration &amp; consent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749039"/>
            <a:ext cx="91440" cy="914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94175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Service requests &amp; triage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4151375"/>
            <a:ext cx="91440" cy="914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96511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Case management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553711"/>
            <a:ext cx="91440" cy="9144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7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Care services &amp; follow-up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19"/>
            <a:ext cx="356616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577839"/>
            <a:ext cx="32004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0F766E"/>
                </a:solidFill>
                <a:latin typeface="Segoe UI"/>
              </a:rPr>
              <a:t>✓  One Case ID ties it all together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1874519"/>
            <a:ext cx="35661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1874519"/>
            <a:ext cx="356616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Patient Transportation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2587751"/>
            <a:ext cx="316382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Move patients safely, with verified custody.</a:t>
            </a:r>
          </a:p>
        </p:txBody>
      </p:sp>
      <p:sp>
        <p:nvSpPr>
          <p:cNvPr id="23" name="Oval 22"/>
          <p:cNvSpPr/>
          <p:nvPr/>
        </p:nvSpPr>
        <p:spPr>
          <a:xfrm>
            <a:off x="4507992" y="3346703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291839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Pickup &amp; drop scheduling</a:t>
            </a:r>
          </a:p>
        </p:txBody>
      </p:sp>
      <p:sp>
        <p:nvSpPr>
          <p:cNvPr id="25" name="Oval 24"/>
          <p:cNvSpPr/>
          <p:nvPr/>
        </p:nvSpPr>
        <p:spPr>
          <a:xfrm>
            <a:off x="4507992" y="3749039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3694175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Ambulance dispatch (PTV / BLS / ALS)</a:t>
            </a:r>
          </a:p>
        </p:txBody>
      </p:sp>
      <p:sp>
        <p:nvSpPr>
          <p:cNvPr id="27" name="Oval 26"/>
          <p:cNvSpPr/>
          <p:nvPr/>
        </p:nvSpPr>
        <p:spPr>
          <a:xfrm>
            <a:off x="4507992" y="4151375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096511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OTP-verified handover</a:t>
            </a:r>
          </a:p>
        </p:txBody>
      </p:sp>
      <p:sp>
        <p:nvSpPr>
          <p:cNvPr id="29" name="Oval 28"/>
          <p:cNvSpPr/>
          <p:nvPr/>
        </p:nvSpPr>
        <p:spPr>
          <a:xfrm>
            <a:off x="4507992" y="4553711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4498847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Live GPS tracking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60" y="5532119"/>
            <a:ext cx="356616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3128" y="5577839"/>
            <a:ext cx="32004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2563EB"/>
                </a:solidFill>
                <a:latin typeface="Segoe UI"/>
              </a:rPr>
              <a:t>✓  Every handover is OTP-verified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0" y="1874519"/>
            <a:ext cx="35661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80" y="1874519"/>
            <a:ext cx="356616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Healthcare Coordination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6448" y="2587751"/>
            <a:ext cx="316382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Hospitals, doctors &amp; records around the Case.</a:t>
            </a:r>
          </a:p>
        </p:txBody>
      </p:sp>
      <p:sp>
        <p:nvSpPr>
          <p:cNvPr id="36" name="Oval 35"/>
          <p:cNvSpPr/>
          <p:nvPr/>
        </p:nvSpPr>
        <p:spPr>
          <a:xfrm>
            <a:off x="8211312" y="3346703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3291839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Hospital &amp; doctor directory</a:t>
            </a:r>
          </a:p>
        </p:txBody>
      </p:sp>
      <p:sp>
        <p:nvSpPr>
          <p:cNvPr id="38" name="Oval 37"/>
          <p:cNvSpPr/>
          <p:nvPr/>
        </p:nvSpPr>
        <p:spPr>
          <a:xfrm>
            <a:off x="8211312" y="3749039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3694175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Appointment booking</a:t>
            </a:r>
          </a:p>
        </p:txBody>
      </p:sp>
      <p:sp>
        <p:nvSpPr>
          <p:cNvPr id="40" name="Oval 39"/>
          <p:cNvSpPr/>
          <p:nvPr/>
        </p:nvSpPr>
        <p:spPr>
          <a:xfrm>
            <a:off x="8211312" y="4151375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4096511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Medicines &amp; vitals record</a:t>
            </a:r>
          </a:p>
        </p:txBody>
      </p:sp>
      <p:sp>
        <p:nvSpPr>
          <p:cNvPr id="42" name="Oval 41"/>
          <p:cNvSpPr/>
          <p:nvPr/>
        </p:nvSpPr>
        <p:spPr>
          <a:xfrm>
            <a:off x="8211312" y="4553711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0" y="4498847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1A2233"/>
                </a:solidFill>
                <a:latin typeface="Segoe UI"/>
              </a:rPr>
              <a:t>Consent-gated clinical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80" y="5532119"/>
            <a:ext cx="356616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56448" y="5577839"/>
            <a:ext cx="32004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7C3AED"/>
                </a:solidFill>
                <a:latin typeface="Segoe UI"/>
              </a:rPr>
              <a:t>✓  Medical data stays protected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Business Challenges — why this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82296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212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C2626"/>
                </a:solidFill>
                <a:latin typeface="Segoe UI"/>
              </a:rPr>
              <a:t>✗  Fragmented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64792"/>
            <a:ext cx="5212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Patients, transport, hospitals &amp; billing live in separate tools — no single view.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82296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5212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C2626"/>
                </a:solidFill>
                <a:latin typeface="Segoe UI"/>
              </a:rPr>
              <a:t>✗  No traceability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70632"/>
            <a:ext cx="5212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Events are not linked; hard to answer 'what happened on this case?'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82296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29000"/>
            <a:ext cx="5212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C2626"/>
                </a:solidFill>
                <a:latin typeface="Segoe UI"/>
              </a:rPr>
              <a:t>✗  Manual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76472"/>
            <a:ext cx="5212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Phone calls &amp; spreadsheets to dispatch agents, book beds, chase payments.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343400"/>
            <a:ext cx="82296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34840"/>
            <a:ext cx="5212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C2626"/>
                </a:solidFill>
                <a:latin typeface="Segoe UI"/>
              </a:rPr>
              <a:t>✗  Blind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82312"/>
            <a:ext cx="5212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No live picture of agents, ambulances, emergencies or SLA breaches.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34924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349240"/>
            <a:ext cx="82296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40680"/>
            <a:ext cx="5212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C2626"/>
                </a:solidFill>
                <a:latin typeface="Segoe UI"/>
              </a:rPr>
              <a:t>✗  Patient anxiety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88152"/>
            <a:ext cx="52120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Families travelling alone have no visibility into who is helping and when.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325880"/>
            <a:ext cx="5486400" cy="49377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508760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0B5D56"/>
                </a:solidFill>
                <a:latin typeface="Segoe UI"/>
              </a:rPr>
              <a:t>The 360°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057400"/>
            <a:ext cx="50292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2233"/>
                </a:solidFill>
                <a:latin typeface="Segoe UI"/>
              </a:rPr>
              <a:t>✓  One Case ID links every event, party and payment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788920"/>
            <a:ext cx="50292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2233"/>
                </a:solidFill>
                <a:latin typeface="Segoe UI"/>
              </a:rPr>
              <a:t>✓  Case-oriented, not module-oriented — one journey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520440"/>
            <a:ext cx="50292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2233"/>
                </a:solidFill>
                <a:latin typeface="Segoe UI"/>
              </a:rPr>
              <a:t>✓  Command Centre dispatches with controlled assignment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251960"/>
            <a:ext cx="50292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2233"/>
                </a:solidFill>
                <a:latin typeface="Segoe UI"/>
              </a:rPr>
              <a:t>✓  Live map + live feed = real-time operational picture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983480"/>
            <a:ext cx="50292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2233"/>
                </a:solidFill>
                <a:latin typeface="Segoe UI"/>
              </a:rPr>
              <a:t>✓  Patient &amp; Agent apps keep everyone in sync, consent-gated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Solution Overview — the Case ID hub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 i="0">
                <a:solidFill>
                  <a:srgbClr val="1A2233"/>
                </a:solidFill>
                <a:latin typeface="Segoe UI"/>
              </a:rPr>
              <a:t>Every operational, clinical, communication &amp; financial event connects to one Patient Case ID.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096304" y="2103120"/>
            <a:ext cx="0" cy="201168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304" y="2692327"/>
            <a:ext cx="2974260" cy="1422473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6304" y="4114800"/>
            <a:ext cx="4206240" cy="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6304" y="4114800"/>
            <a:ext cx="2974260" cy="1422472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304" y="4114800"/>
            <a:ext cx="0" cy="201168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122043" y="4114800"/>
            <a:ext cx="2974261" cy="1422472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890064" y="4114800"/>
            <a:ext cx="4206240" cy="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122043" y="2692327"/>
            <a:ext cx="2974261" cy="1422473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204764" y="1819656"/>
            <a:ext cx="178308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Patient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9024" y="2408863"/>
            <a:ext cx="178308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Service Request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1004" y="3831336"/>
            <a:ext cx="178308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Quote &amp; Pay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9024" y="5253808"/>
            <a:ext cx="178308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Dispatch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04764" y="5843016"/>
            <a:ext cx="1783080" cy="56692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Ambulance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30503" y="5253808"/>
            <a:ext cx="1783080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Hospital / Doctor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8524" y="3831336"/>
            <a:ext cx="1783080" cy="566928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Care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30503" y="2408863"/>
            <a:ext cx="1783080" cy="566928"/>
          </a:xfrm>
          <a:prstGeom prst="round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Notifications</a:t>
            </a:r>
          </a:p>
        </p:txBody>
      </p:sp>
      <p:sp>
        <p:nvSpPr>
          <p:cNvPr id="23" name="Oval 22"/>
          <p:cNvSpPr/>
          <p:nvPr/>
        </p:nvSpPr>
        <p:spPr>
          <a:xfrm>
            <a:off x="5163616" y="3182112"/>
            <a:ext cx="1865376" cy="1865376"/>
          </a:xfrm>
          <a:prstGeom prst="ellipse">
            <a:avLst/>
          </a:prstGeom>
          <a:solidFill>
            <a:srgbClr val="0F766E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PATIENT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CASE ID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CASE-2026-000145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46304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4600" b="1" i="0">
                <a:solidFill>
                  <a:srgbClr val="0F766E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651760"/>
            <a:ext cx="9144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End-to-End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3520440"/>
            <a:ext cx="9144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Segoe UI"/>
              </a:rPr>
              <a:t>How the whole journey connects under one Case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End-to-End Business Flow — the patient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From first request to case closure — one continuous, auditable journey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1. Register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create patient profile &amp; consent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11525" y="1819656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35884" y="1417320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2. Service Request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patient states the help needed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0209" y="1819656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14568" y="1417320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3. Triage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prioritize &amp; assess urgency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68893" y="1819656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93252" y="1417320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4. Quote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price the requested services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47577" y="1819656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71936" y="1417320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5. Consent &amp; Pay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approve &amp; pay the advance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5040" y="2267712"/>
            <a:ext cx="0" cy="27432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57200" y="2633472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6. Case Created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one Case ID for the journey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11525" y="3035808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735884" y="2633472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7. Dispatch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assign the right agent / ambulance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90209" y="3035808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14568" y="2633472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8. Pickup + OTP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verify the patient pickup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68893" y="3035808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93252" y="2633472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9. Hospital + Handover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safe transfer, OTP confirmed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47577" y="3035808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571936" y="2633472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10. Appointment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book doctor / consultation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35040" y="3483864"/>
            <a:ext cx="0" cy="27432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57200" y="3849624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11. Treatment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clinical care is delivered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11525" y="425196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735884" y="3849624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12. Medicines &amp; Care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record meds, vitals &amp; caretaker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90209" y="425196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14568" y="3849624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13. Final Billing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settle the full charges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68893" y="425196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293252" y="3849624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14. Discharge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patient is released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47577" y="425196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71936" y="3849624"/>
            <a:ext cx="2132380" cy="80467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15. Follow-up &amp; Close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check-in, then close the case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89204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98348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B5D56"/>
                </a:solidFill>
                <a:latin typeface="Segoe UI"/>
              </a:rPr>
              <a:t>Everything below the line is automatic: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349240"/>
            <a:ext cx="2743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• Every step writes a Case timeline event with who/when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5349240"/>
            <a:ext cx="2743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• Emergencies auto-escalate to the emergency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5349240"/>
            <a:ext cx="2743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• Payments trigger notifications (WhatsApp/SMS)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5349240"/>
            <a:ext cx="2743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• Portal &amp; apps update live in both directions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User Role Flow — who does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Role-based access; each actor sees only their part of the journey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ROLE-BASED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468880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468880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Patient / Guardian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481328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Book service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63440" y="1746504"/>
            <a:ext cx="164592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828032" y="1481328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Track case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28232" y="1746504"/>
            <a:ext cx="164592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92824" y="1481328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Pay balance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93024" y="1746504"/>
            <a:ext cx="164592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357616" y="1481328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Get updates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76272"/>
            <a:ext cx="2468880" cy="749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176272"/>
            <a:ext cx="2468880" cy="749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Command Centre (Admin)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2286000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Review &amp; triage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63440" y="2551176"/>
            <a:ext cx="164592" cy="0"/>
          </a:xfrm>
          <a:prstGeom prst="line">
            <a:avLst/>
          </a:prstGeom>
          <a:ln w="15875">
            <a:solidFill>
              <a:srgbClr val="0F76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28032" y="2286000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Create case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28232" y="2551176"/>
            <a:ext cx="164592" cy="0"/>
          </a:xfrm>
          <a:prstGeom prst="line">
            <a:avLst/>
          </a:prstGeom>
          <a:ln w="15875">
            <a:solidFill>
              <a:srgbClr val="0F76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592824" y="2286000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Quote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93024" y="2551176"/>
            <a:ext cx="164592" cy="0"/>
          </a:xfrm>
          <a:prstGeom prst="line">
            <a:avLst/>
          </a:prstGeom>
          <a:ln w="15875">
            <a:solidFill>
              <a:srgbClr val="0F76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357616" y="2286000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Dispatch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957816" y="2551176"/>
            <a:ext cx="164592" cy="0"/>
          </a:xfrm>
          <a:prstGeom prst="line">
            <a:avLst/>
          </a:prstGeom>
          <a:ln w="15875">
            <a:solidFill>
              <a:srgbClr val="0F76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122408" y="2286000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Close case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980944"/>
            <a:ext cx="2468880" cy="7498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2980944"/>
            <a:ext cx="2468880" cy="7498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Care Agent (field)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63240" y="3090672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Accept job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63440" y="3355848"/>
            <a:ext cx="164592" cy="0"/>
          </a:xfrm>
          <a:prstGeom prst="line">
            <a:avLst/>
          </a:prstGeom>
          <a:ln w="158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828032" y="3090672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En route + GPS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28232" y="3355848"/>
            <a:ext cx="164592" cy="0"/>
          </a:xfrm>
          <a:prstGeom prst="line">
            <a:avLst/>
          </a:prstGeom>
          <a:ln w="158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92824" y="3090672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Pickup OTP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93024" y="3355848"/>
            <a:ext cx="164592" cy="0"/>
          </a:xfrm>
          <a:prstGeom prst="line">
            <a:avLst/>
          </a:prstGeom>
          <a:ln w="158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357616" y="3090672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Handover OTP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785616"/>
            <a:ext cx="2468880" cy="7498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785616"/>
            <a:ext cx="2468880" cy="7498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EMT / Ambulance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063240" y="3895344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Readiness check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663440" y="4160520"/>
            <a:ext cx="164592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828032" y="3895344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Dispatch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428232" y="4160520"/>
            <a:ext cx="164592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592824" y="3895344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Transport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193024" y="4160520"/>
            <a:ext cx="164592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357616" y="3895344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Hospital arrival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90288"/>
            <a:ext cx="2468880" cy="7498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4590288"/>
            <a:ext cx="2468880" cy="7498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Doctor / Hospital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63240" y="4700016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Appointment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663440" y="4965192"/>
            <a:ext cx="164592" cy="0"/>
          </a:xfrm>
          <a:prstGeom prst="line">
            <a:avLst/>
          </a:prstGeom>
          <a:ln w="15875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828032" y="4700016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Consultation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428232" y="4965192"/>
            <a:ext cx="164592" cy="0"/>
          </a:xfrm>
          <a:prstGeom prst="line">
            <a:avLst/>
          </a:prstGeom>
          <a:ln w="15875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6592824" y="4700016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Prescription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193024" y="4965192"/>
            <a:ext cx="164592" cy="0"/>
          </a:xfrm>
          <a:prstGeom prst="line">
            <a:avLst/>
          </a:prstGeom>
          <a:ln w="15875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357616" y="4700016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Follow-up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394960"/>
            <a:ext cx="2468880" cy="7498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394960"/>
            <a:ext cx="2468880" cy="7498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Finance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63240" y="5504688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Payments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663440" y="5769864"/>
            <a:ext cx="164592" cy="0"/>
          </a:xfrm>
          <a:prstGeom prst="line">
            <a:avLst/>
          </a:prstGeom>
          <a:ln w="158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828032" y="5504688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Settlements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28232" y="5769864"/>
            <a:ext cx="164592" cy="0"/>
          </a:xfrm>
          <a:prstGeom prst="line">
            <a:avLst/>
          </a:prstGeom>
          <a:ln w="158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6592824" y="5504688"/>
            <a:ext cx="16002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1A2233"/>
                </a:solidFill>
                <a:latin typeface="Segoe UI"/>
              </a:rPr>
              <a:t>Reconciliation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Request-to-Service-Delivery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From a booking to delivered, verified services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651760" cy="10058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Patient books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057400"/>
            <a:ext cx="1371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46120" y="1554480"/>
            <a:ext cx="2651760" cy="10058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Command Centre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reviews &amp; triages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2057400"/>
            <a:ext cx="1371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35040" y="1554480"/>
            <a:ext cx="2651760" cy="10058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Package &amp; Quote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prepared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0" y="2057400"/>
            <a:ext cx="1371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23960" y="1554480"/>
            <a:ext cx="2651760" cy="10058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Patient accepts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&amp; pays advance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383280"/>
            <a:ext cx="2651760" cy="10058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5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Resources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assigned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8960" y="3886200"/>
            <a:ext cx="1371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46120" y="3383280"/>
            <a:ext cx="2651760" cy="10058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6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Agent/Ambulance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delivers (OTP)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97880" y="3886200"/>
            <a:ext cx="1371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035040" y="3383280"/>
            <a:ext cx="2651760" cy="100584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7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Care &amp; clinical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services delivered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0" y="3886200"/>
            <a:ext cx="1371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23960" y="3383280"/>
            <a:ext cx="2651760" cy="100584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8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Final billing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&amp; closure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378440" y="2057400"/>
            <a:ext cx="0" cy="132588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57200" y="5394960"/>
            <a:ext cx="11247120" cy="77724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04688"/>
            <a:ext cx="10972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 i="0">
                <a:solidFill>
                  <a:srgbClr val="0B5D56"/>
                </a:solidFill>
                <a:latin typeface="Segoe UI"/>
              </a:rPr>
              <a:t>Verified delivery: pickup &amp; hospital handover are confirmed by OTP; every service is logged on the Case with cost and status.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Case &amp; Request Life 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Controlled state machine with exception paths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New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17904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572768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Under Review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33472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688336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Triage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49040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03904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Quote Sent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64608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19472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Accepted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0176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035040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Payment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95744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50608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Confirmed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66176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In Progress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26880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381744" y="1600200"/>
            <a:ext cx="1060704" cy="6400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Completed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442448" y="1920240"/>
            <a:ext cx="50292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497312" y="1600200"/>
            <a:ext cx="1060704" cy="64008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Closed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65176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2233"/>
                </a:solidFill>
                <a:latin typeface="Segoe UI"/>
              </a:rPr>
              <a:t>Exception transitions (available from active states):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063240"/>
            <a:ext cx="1920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DC2626"/>
                </a:solidFill>
                <a:latin typeface="Segoe UI"/>
              </a:rPr>
              <a:t>Cancelled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3063240"/>
            <a:ext cx="1920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DC2626"/>
                </a:solidFill>
                <a:latin typeface="Segoe UI"/>
              </a:rPr>
              <a:t>Rejected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3063240"/>
            <a:ext cx="1920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64748B"/>
                </a:solidFill>
                <a:latin typeface="Segoe UI"/>
              </a:rPr>
              <a:t>Expired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3063240"/>
            <a:ext cx="1920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D97706"/>
                </a:solidFill>
                <a:latin typeface="Segoe UI"/>
              </a:rPr>
              <a:t>On Hold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3063240"/>
            <a:ext cx="1920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DC2626"/>
                </a:solidFill>
                <a:latin typeface="Segoe UI"/>
              </a:rPr>
              <a:t>Emergency Escalated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931920"/>
            <a:ext cx="11247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041648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B5D56"/>
                </a:solidFill>
                <a:latin typeface="Segoe UI"/>
              </a:rPr>
              <a:t>Business rules enforced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Illegal transitions are rejected by the state machine (e.g. cannot skip backwards).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718304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On Hold &amp; Emergency Escalated are recoverable — an operator can resume the journey.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047488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Every transition is written to the Case timeline with the acting user and timestamp.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376672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Emergency at any point triggers the configurable escalation path (never a substitute for 112).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46304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4600" b="1" i="0">
                <a:solidFill>
                  <a:srgbClr val="0F766E"/>
                </a:solidFill>
                <a:latin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651760"/>
            <a:ext cx="9144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Core Business Diagrams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3520440"/>
            <a:ext cx="9144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Segoe UI"/>
              </a:rPr>
              <a:t>The models and flows that run the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Master Data Relationship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Every entity connects to exactly one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DATA MODEL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096304" y="2057399"/>
            <a:ext cx="0" cy="192024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304" y="3017519"/>
            <a:ext cx="3286358" cy="96012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6304" y="3977639"/>
            <a:ext cx="3286358" cy="96012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6304" y="3977639"/>
            <a:ext cx="0" cy="192024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809945" y="3977639"/>
            <a:ext cx="3286359" cy="96012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809945" y="3017519"/>
            <a:ext cx="3286359" cy="96012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39004" y="1531619"/>
            <a:ext cx="2514600" cy="105156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PEOPLE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Patient · Guardian · Consent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362" y="2491739"/>
            <a:ext cx="2514600" cy="105156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REQUEST &amp; FINANCE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Service Request · Quote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Payment · Settlement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362" y="4411979"/>
            <a:ext cx="2514600" cy="105156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TRANSPORT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Agent · Ambulance · Driver/EMT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39004" y="5372099"/>
            <a:ext cx="2514600" cy="105156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CLINICAL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Hospital · Doctor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Appointment · Medicine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2645" y="4411979"/>
            <a:ext cx="2514600" cy="105156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CARE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Caretaker · Accommodation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Food / Transport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2645" y="2491739"/>
            <a:ext cx="2514600" cy="1051560"/>
          </a:xfrm>
          <a:prstGeom prst="round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GOVERNANCE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Notification · Complaint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Timeline / Audit</a:t>
            </a:r>
          </a:p>
        </p:txBody>
      </p:sp>
      <p:sp>
        <p:nvSpPr>
          <p:cNvPr id="19" name="Oval 18"/>
          <p:cNvSpPr/>
          <p:nvPr/>
        </p:nvSpPr>
        <p:spPr>
          <a:xfrm>
            <a:off x="5227624" y="3108959"/>
            <a:ext cx="1737360" cy="1737360"/>
          </a:xfrm>
          <a:prstGeom prst="ellipse">
            <a:avLst/>
          </a:prstGeom>
          <a:solidFill>
            <a:srgbClr val="0F766E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CASE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single source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of truth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Approval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Quote acceptance · Settlement payout · Complaint SLA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194560" cy="914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194560" cy="914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Quote / Payment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618488"/>
            <a:ext cx="1600200" cy="512064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Draft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34840" y="187452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81144" y="1618488"/>
            <a:ext cx="1600200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Sent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81344" y="187452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27648" y="1618488"/>
            <a:ext cx="1600200" cy="512064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Accepted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27848" y="187452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74152" y="1618488"/>
            <a:ext cx="1600200" cy="5120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Paid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219456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219456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Settlement Payout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2807208"/>
            <a:ext cx="1600200" cy="512064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Earnings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34840" y="306324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81144" y="2807208"/>
            <a:ext cx="1600200" cy="512064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Pending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81344" y="306324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27648" y="2807208"/>
            <a:ext cx="1600200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Approved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27848" y="306324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74152" y="2807208"/>
            <a:ext cx="1600200" cy="5120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Paid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794760"/>
            <a:ext cx="219456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794760"/>
            <a:ext cx="219456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Complaint SLA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34640" y="3995928"/>
            <a:ext cx="1600200" cy="512064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Open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34840" y="425196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81144" y="3995928"/>
            <a:ext cx="1600200" cy="512064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Assigned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181344" y="425196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327648" y="3995928"/>
            <a:ext cx="1600200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Investigating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7848" y="425196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074152" y="3995928"/>
            <a:ext cx="1600200" cy="5120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Resolved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74352" y="4251960"/>
            <a:ext cx="146304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820656" y="3995928"/>
            <a:ext cx="1600200" cy="512064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Closed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89204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98348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B5D56"/>
                </a:solidFill>
                <a:latin typeface="Segoe UI"/>
              </a:rPr>
              <a:t>Controls &amp; SLA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30352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1A2233"/>
                </a:solidFill>
                <a:latin typeface="Segoe UI"/>
              </a:rPr>
              <a:t>•  Configurable SLA per priority sets response &amp; resolution due-dates; breaches are flagged.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559552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1A2233"/>
                </a:solidFill>
                <a:latin typeface="Segoe UI"/>
              </a:rPr>
              <a:t>•  Settlements bundle unsettled earnings; payout requires approval then payment reference.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815584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1A2233"/>
                </a:solidFill>
                <a:latin typeface="Segoe UI"/>
              </a:rPr>
              <a:t>•  Every approval/step is audit-logged; complaints retain full communication history.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Patient Onboarding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Guided registration wizard — validated, consent-first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CUSTOMER JOURNEY</a:t>
            </a:r>
          </a:p>
        </p:txBody>
      </p:sp>
      <p:sp>
        <p:nvSpPr>
          <p:cNvPr id="7" name="Chevron 6"/>
          <p:cNvSpPr/>
          <p:nvPr/>
        </p:nvSpPr>
        <p:spPr>
          <a:xfrm>
            <a:off x="457200" y="1645920"/>
            <a:ext cx="1463040" cy="82296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Account</a:t>
            </a:r>
          </a:p>
        </p:txBody>
      </p:sp>
      <p:sp>
        <p:nvSpPr>
          <p:cNvPr id="8" name="Chevron 7"/>
          <p:cNvSpPr/>
          <p:nvPr/>
        </p:nvSpPr>
        <p:spPr>
          <a:xfrm>
            <a:off x="1965960" y="1645920"/>
            <a:ext cx="1463040" cy="82296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Personal</a:t>
            </a:r>
          </a:p>
        </p:txBody>
      </p:sp>
      <p:sp>
        <p:nvSpPr>
          <p:cNvPr id="9" name="Chevron 8"/>
          <p:cNvSpPr/>
          <p:nvPr/>
        </p:nvSpPr>
        <p:spPr>
          <a:xfrm>
            <a:off x="3474720" y="1645920"/>
            <a:ext cx="1463040" cy="82296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3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Contact</a:t>
            </a:r>
          </a:p>
        </p:txBody>
      </p:sp>
      <p:sp>
        <p:nvSpPr>
          <p:cNvPr id="10" name="Chevron 9"/>
          <p:cNvSpPr/>
          <p:nvPr/>
        </p:nvSpPr>
        <p:spPr>
          <a:xfrm>
            <a:off x="4983480" y="1645920"/>
            <a:ext cx="1463040" cy="82296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4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Medical</a:t>
            </a:r>
          </a:p>
        </p:txBody>
      </p:sp>
      <p:sp>
        <p:nvSpPr>
          <p:cNvPr id="11" name="Chevron 10"/>
          <p:cNvSpPr/>
          <p:nvPr/>
        </p:nvSpPr>
        <p:spPr>
          <a:xfrm>
            <a:off x="6492240" y="1645920"/>
            <a:ext cx="1463040" cy="82296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5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Documents</a:t>
            </a:r>
          </a:p>
        </p:txBody>
      </p:sp>
      <p:sp>
        <p:nvSpPr>
          <p:cNvPr id="12" name="Chevron 11"/>
          <p:cNvSpPr/>
          <p:nvPr/>
        </p:nvSpPr>
        <p:spPr>
          <a:xfrm>
            <a:off x="8001000" y="1645920"/>
            <a:ext cx="1463040" cy="822960"/>
          </a:xfrm>
          <a:prstGeom prst="chevron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6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Guardian &amp; Consent</a:t>
            </a:r>
          </a:p>
        </p:txBody>
      </p:sp>
      <p:sp>
        <p:nvSpPr>
          <p:cNvPr id="13" name="Chevron 12"/>
          <p:cNvSpPr/>
          <p:nvPr/>
        </p:nvSpPr>
        <p:spPr>
          <a:xfrm>
            <a:off x="9509760" y="1645920"/>
            <a:ext cx="1463040" cy="82296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7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Review &amp; Submit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40"/>
            <a:ext cx="27432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82296" cy="1645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907792"/>
            <a:ext cx="24688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218688"/>
            <a:ext cx="24688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Demographics, contact, emergency contact, language, identity/insurance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834640"/>
            <a:ext cx="27432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91840" y="2834640"/>
            <a:ext cx="82296" cy="1645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907792"/>
            <a:ext cx="24688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Medical (as provided)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3218688"/>
            <a:ext cx="24688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Problem, chronic conditions, allergies, blood group, medicines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834640"/>
            <a:ext cx="27432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2834640"/>
            <a:ext cx="82296" cy="1645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2907792"/>
            <a:ext cx="24688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Consent-first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3218688"/>
            <a:ext cx="24688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Who can access what, for what purpose, from when to when — revocable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2834640"/>
            <a:ext cx="27432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2834640"/>
            <a:ext cx="82296" cy="1645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907792"/>
            <a:ext cx="24688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Validated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5712" y="3218688"/>
            <a:ext cx="24688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Required fields &amp; formats checked at each step; progress shown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892040"/>
            <a:ext cx="10972800" cy="10058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B5D56"/>
                </a:solidFill>
                <a:latin typeface="Segoe UI"/>
              </a:rPr>
              <a:t>Business benefit:  faster, error-free onboarding with built-in consent &amp; audit — the patient's medical data is protected from day one and never exposed to operational roles by default.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Real-Time Sync Process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Two-way live sync between apps and the Command Centre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REAL-TIME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377440" cy="10058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Mobile Apps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(Patient / Agent)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828800"/>
            <a:ext cx="2651760" cy="10058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Backend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Event 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828800"/>
            <a:ext cx="2377440" cy="10058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Command Centre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148840"/>
            <a:ext cx="1828800" cy="0"/>
          </a:xfrm>
          <a:prstGeom prst="line">
            <a:avLst/>
          </a:prstGeom>
          <a:ln w="28575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17520" y="178308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Segoe UI"/>
              </a:rPr>
              <a:t>action / GPS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06640" y="2148840"/>
            <a:ext cx="1828800" cy="0"/>
          </a:xfrm>
          <a:prstGeom prst="line">
            <a:avLst/>
          </a:prstGeom>
          <a:ln w="28575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79" y="178308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Segoe UI"/>
              </a:rPr>
              <a:t>SSE push (live)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406640" y="2606040"/>
            <a:ext cx="1828800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79" y="265176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D97706"/>
                </a:solidFill>
                <a:latin typeface="Segoe UI"/>
              </a:rPr>
              <a:t>dispatch / quote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926080" y="2606040"/>
            <a:ext cx="1828800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17520" y="265176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D97706"/>
                </a:solidFill>
                <a:latin typeface="Segoe UI"/>
              </a:rPr>
              <a:t>auto-poll sync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83280"/>
            <a:ext cx="54864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93008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  <a:latin typeface="Segoe UI"/>
              </a:rPr>
              <a:t>App → Portal (instant)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Patient books a service → appears in Requests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434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Agent goes Available → marker moves on the live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006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Agent accepts / OTP → case timeline &amp; dispatch update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Patient pays → Finance panel &amp; dashboard update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383280"/>
            <a:ext cx="53035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493008"/>
            <a:ext cx="4937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Segoe UI"/>
              </a:rPr>
              <a:t>Portal → App (auto-sync)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886200"/>
            <a:ext cx="493776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Job dispatched → shows in Agent app automatically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343400"/>
            <a:ext cx="493776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Quote sent → Patient app shows payable balance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800600"/>
            <a:ext cx="493776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Status changes → Patient 'My Care' updates 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257800"/>
            <a:ext cx="493776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1A2233"/>
                </a:solidFill>
                <a:latin typeface="Segoe UI"/>
              </a:rPr>
              <a:t>•  No manual refresh anywhere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System Integration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Open, governed APIs — connect the surrounding ecosystem as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096304" y="2011681"/>
            <a:ext cx="0" cy="1874519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304" y="2560714"/>
            <a:ext cx="3006589" cy="1325486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6304" y="3886200"/>
            <a:ext cx="4251960" cy="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6304" y="3886200"/>
            <a:ext cx="3006589" cy="1325485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304" y="3886200"/>
            <a:ext cx="0" cy="1874519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089714" y="3886200"/>
            <a:ext cx="3006590" cy="1325485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844344" y="3886200"/>
            <a:ext cx="4251960" cy="0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089714" y="2560714"/>
            <a:ext cx="3006590" cy="1325486"/>
          </a:xfrm>
          <a:prstGeom prst="line">
            <a:avLst/>
          </a:prstGeom>
          <a:ln w="25400">
            <a:solidFill>
              <a:srgbClr val="C4D0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13324" y="1728217"/>
            <a:ext cx="19659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ABDM / ABHA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913" y="2277250"/>
            <a:ext cx="19659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Payment Gateway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65284" y="3602736"/>
            <a:ext cx="1965960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WhatsApp / SMS / Email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913" y="4928221"/>
            <a:ext cx="19659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Hospital HIS / Beds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3324" y="5477255"/>
            <a:ext cx="196596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Maps &amp; GPS / ETA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6734" y="4928221"/>
            <a:ext cx="1965960" cy="566928"/>
          </a:xfrm>
          <a:prstGeom prst="round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Accounting / Tally / ERP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1364" y="3602736"/>
            <a:ext cx="1965960" cy="56692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Government / 112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6734" y="2277250"/>
            <a:ext cx="1965960" cy="566928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Insurance / TPA</a:t>
            </a:r>
          </a:p>
        </p:txBody>
      </p:sp>
      <p:sp>
        <p:nvSpPr>
          <p:cNvPr id="23" name="Oval 22"/>
          <p:cNvSpPr/>
          <p:nvPr/>
        </p:nvSpPr>
        <p:spPr>
          <a:xfrm>
            <a:off x="5227624" y="3017520"/>
            <a:ext cx="1737360" cy="1737360"/>
          </a:xfrm>
          <a:prstGeom prst="ellipse">
            <a:avLst/>
          </a:prstGeom>
          <a:solidFill>
            <a:srgbClr val="0F766E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360° API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44768"/>
            <a:ext cx="112745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50" b="0" i="1">
                <a:solidFill>
                  <a:srgbClr val="64748B"/>
                </a:solidFill>
                <a:latin typeface="Segoe UI"/>
              </a:rPr>
              <a:t>Integrations are optional &amp; consent-based; the platform is architected so each can be added safely without re-work.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Reporting &amp; Dashboard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21792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CCFBF1"/>
                </a:solidFill>
                <a:latin typeface="Segoe UI"/>
              </a:rPr>
              <a:t>From live events to operational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INSIGHTS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13238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Events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(all modules)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11525" y="201168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35884" y="1554480"/>
            <a:ext cx="213238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Case Timeline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&amp; Audit Log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0209" y="201168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14568" y="1554480"/>
            <a:ext cx="2132380" cy="9144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Aggregation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&amp; KPIs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68893" y="201168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93252" y="1554480"/>
            <a:ext cx="2132380" cy="9144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Live Dashboard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&amp; Ops Map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47577" y="2011680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71936" y="1554480"/>
            <a:ext cx="213238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SLA / Finance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Reports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346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B5D56"/>
                </a:solidFill>
                <a:latin typeface="Segoe UI"/>
              </a:rPr>
              <a:t>Command Centre KPI snapshot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37560"/>
            <a:ext cx="1783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83864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0F766E"/>
                </a:solidFill>
                <a:latin typeface="Segoe UI"/>
              </a:rPr>
              <a:t>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1783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Segoe UI"/>
              </a:rPr>
              <a:t>Open Cases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96311" y="3337560"/>
            <a:ext cx="1783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96311" y="3483864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DC2626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1" y="4069080"/>
            <a:ext cx="1783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Segoe UI"/>
              </a:rPr>
              <a:t>Emergencies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2" y="3337560"/>
            <a:ext cx="1783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2" y="3483864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2563EB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2542" y="4069080"/>
            <a:ext cx="1783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Segoe UI"/>
              </a:rPr>
              <a:t>Avail. Agents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3" y="3337560"/>
            <a:ext cx="1783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3" y="3483864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7C3AED"/>
                </a:solidFill>
                <a:latin typeface="Segoe UI"/>
              </a:rPr>
              <a:t>2/3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3" y="4069080"/>
            <a:ext cx="1783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Segoe UI"/>
              </a:rPr>
              <a:t>Ambulances Ready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4" y="3337560"/>
            <a:ext cx="1783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65004" y="3483864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  <a:latin typeface="Segoe UI"/>
              </a:rPr>
              <a:t>96%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5004" y="4069080"/>
            <a:ext cx="1783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Segoe UI"/>
              </a:rPr>
              <a:t>SLA On-time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21235" y="3337560"/>
            <a:ext cx="1783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35" y="3483864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D97706"/>
                </a:solidFill>
                <a:latin typeface="Segoe UI"/>
              </a:rPr>
              <a:t>₹1.4L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35" y="4069080"/>
            <a:ext cx="1783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Segoe UI"/>
              </a:rPr>
              <a:t>Revenue Coordinated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Segoe UI"/>
              </a:rPr>
              <a:t>Cases by stage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38344"/>
            <a:ext cx="731520" cy="7680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824728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Segoe UI"/>
              </a:rPr>
              <a:t>Open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74520" y="5257800"/>
            <a:ext cx="73152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83080" y="5824728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Segoe UI"/>
              </a:rPr>
              <a:t>In progress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926080" y="5586984"/>
            <a:ext cx="731520" cy="219456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34640" y="5824728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Segoe UI"/>
              </a:rPr>
              <a:t>On hold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77640" y="4709160"/>
            <a:ext cx="731520" cy="109728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86200" y="5824728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Segoe UI"/>
              </a:rPr>
              <a:t>Closed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470916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Segoe UI"/>
              </a:rPr>
              <a:t>Coverage of 84-point blueprint</a:t>
            </a:r>
          </a:p>
        </p:txBody>
      </p:sp>
      <p:sp>
        <p:nvSpPr>
          <p:cNvPr id="46" name="Block Arc 45"/>
          <p:cNvSpPr/>
          <p:nvPr/>
        </p:nvSpPr>
        <p:spPr>
          <a:xfrm>
            <a:off x="7680960" y="4937760"/>
            <a:ext cx="914400" cy="914400"/>
          </a:xfrm>
          <a:prstGeom prst="blockArc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5074920"/>
            <a:ext cx="2743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A2233"/>
                </a:solidFill>
                <a:latin typeface="Segoe UI"/>
              </a:rPr>
              <a:t>~78 / 84 delivered</a:t>
            </a:r>
          </a:p>
          <a:p>
            <a:pPr algn="l"/>
            <a:r>
              <a:rPr sz="1100" b="1" i="0">
                <a:solidFill>
                  <a:srgbClr val="1A2233"/>
                </a:solidFill>
                <a:latin typeface="Segoe UI"/>
              </a:rPr>
              <a:t>· remainder on roadmap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46304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27432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4600" b="1" i="0">
                <a:solidFill>
                  <a:srgbClr val="0F766E"/>
                </a:solidFill>
                <a:latin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651760"/>
            <a:ext cx="9144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Feature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3520440"/>
            <a:ext cx="91440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Segoe UI"/>
              </a:rPr>
              <a:t>Every feature — objective, flow, screen, rules,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Operations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336499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Sign 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Dashboard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Live tiles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Drill into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Give the Command Centre a live, operational picture — not just a menu.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Role-based; only permitted data shown. Counts computed server-side.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Faster decisions; emergencies &amp; delays surfaced instantly.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Auto-refreshes live; one click into any case.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Live Operations — Map &amp; Feed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336499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1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2381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Subscribe (SSE)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GPS 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Map updates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Feed streams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See agents, ambulances and events moving in real time.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Only authorised staff; emergencies flagged red.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Ride-hailing-style visibility; proactive control.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Live map (OpenStreetMap) + streaming event feed.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Service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336499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1" y="621792"/>
            <a:ext cx="336499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3626" y="621792"/>
            <a:ext cx="336499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2421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9971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Book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Review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Triage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Convert to Case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e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Turn a patient's request into a controlled, trackable case.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Illegal lifecycle transitions blocked; emergency must be assessed.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No lost requests; clear ownership &amp; SLA from minute one.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Multi-service, pickup &amp; destination capture; live intake.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Segoe UI"/>
              </a:rPr>
              <a:t>⚕ Emergency flag directs to 112 — never a substitute for emergency medical care.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Case 360° Workspace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Open case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Tabs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Service 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Timeline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as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One workspace for the entire patient journey.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Consent-gated medical data; full audit on every action.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Everyone works from one source of truth per Case.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Overview · Plan · Dispatch · Healthcare · Clinical · Care · Finance.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Dispatch &amp; Pickup (OTP)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Assign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En route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Pickup OTP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Handover OTP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se_disp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Assign the right agent/ambulance and verify safe pickup &amp; handover.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Readiness &amp; oxygen thresholds gate ambulance dispatch.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Right resource, verified custody, auditable handover.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Controlled assignment; live GPS; OTP handshake.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Billing — Quote to Payment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Package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Quote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Send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Accept &amp; Pay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se_fi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Transparent, rule-based pricing and clean payment tracking.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Amounts computed from rate cards; balance can't go negative.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Clear quotes, faster payment, auditable finances.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Configurable pricing engine; advance/balance; live updates.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Healthcare &amp; Clinical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362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Book appt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Confirm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Consultation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Medicine &amp; Vitals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ase_clin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Coordinate appointments and record medicines &amp; vitals safely.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Recorded by authorised clinician; audit metadata auto-filled.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Complete, safe clinical record within the coordination journey.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Appointment workflow; medicine, intake, vitals.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Segoe UI"/>
              </a:rPr>
              <a:t>⚕ Platform stores &amp; coordinates; it does not diagnose or prescribe.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Care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362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37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Assign caretaker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Diary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Book stay/food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Transport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se_c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Coordinate caretakers, accommodation, food &amp; local transport.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Caretaker is a separate verified workforce; totals auto-calc.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Complete 'complete-care' package around the patient.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Daily activity diary; unified bookings on the Case.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Ambulance Fleet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362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37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Register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Readiness check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Gate dispatch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Live track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mbul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Dispatch only safe, ready, capability-matched ambulances.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Category-aware checklist; low-O₂/unchecked vehicles blocked.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Safer transport; fewer failed dispatches; compliance ready.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PTV/BLS/ALS; crew registry; live GPS tracking.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Notifications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Event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Check consent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Deliver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History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Keep patients &amp; staff informed on their chosen channels.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Consent gating; marketing opt-in; emergency always delivers.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Timely updates; fewer calls; full communication 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WhatsApp/SMS/Email/Push; event-driven; delivery stats.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Complaints &amp; SLA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77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Raise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Assign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Investigate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Resolve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la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Resolve grievances on time with full accountability.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SLA due-dates per priority; breaches flagged automatically.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Higher trust; measurable service quality.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Full comment history; reopen; breach tracking.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Finance — Settlements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Accrue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Batch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Approve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Pay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94560"/>
            <a:ext cx="612648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314574"/>
            <a:ext cx="5943600" cy="37284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ttl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2862"/>
            <a:ext cx="5907024" cy="36918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766560" y="219456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6656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26771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57860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Pay agents &amp; partners accurately with reconciliation.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20040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7355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358444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Payout requires approval + reference; earnings can't double-settle.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420624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656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7939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2" y="459028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Accurate payouts; clean books; partner trust.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5212080"/>
            <a:ext cx="4983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656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5285232"/>
            <a:ext cx="4709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1152" y="5596128"/>
            <a:ext cx="470916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Earnings ledger; gross/deductions/net; auditable.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Patient App — Book &amp; 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PATIENT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336499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1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2381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9931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Login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Book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My Care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Pay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194560"/>
            <a:ext cx="493776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65960" y="2377440"/>
            <a:ext cx="2331720" cy="448056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39112" y="2450592"/>
            <a:ext cx="2185416" cy="433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39112" y="2450592"/>
            <a:ext cx="2185416" cy="6400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9112" y="2596896"/>
            <a:ext cx="218541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360 Patient Care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30552" y="3200400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03704" y="3319272"/>
            <a:ext cx="219456" cy="219456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3291840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Emergency · Book · 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30552" y="3730752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03704" y="3849624"/>
            <a:ext cx="219456" cy="21945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14600" y="3822192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Book assistance (chips)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30552" y="4261104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03704" y="4379976"/>
            <a:ext cx="219456" cy="219456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14600" y="4352544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Care packages 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30552" y="4791456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203704" y="4910328"/>
            <a:ext cx="219456" cy="21945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14600" y="4882896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My Care — my cases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30552" y="5321808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03704" y="5440680"/>
            <a:ext cx="219456" cy="219456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4600" y="5413248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Pay balance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39112" y="6327648"/>
            <a:ext cx="2185416" cy="457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39112" y="6437376"/>
            <a:ext cx="7284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750" b="1" i="0">
                <a:solidFill>
                  <a:srgbClr val="0B5D56"/>
                </a:solidFill>
                <a:latin typeface="Segoe UI"/>
              </a:rPr>
              <a:t>Home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67584" y="6437376"/>
            <a:ext cx="7284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750" b="1" i="0">
                <a:solidFill>
                  <a:srgbClr val="0B5D56"/>
                </a:solidFill>
                <a:latin typeface="Segoe UI"/>
              </a:rPr>
              <a:t>My Care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96056" y="6437376"/>
            <a:ext cx="7284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750" b="1" i="0">
                <a:solidFill>
                  <a:srgbClr val="0B5D56"/>
                </a:solidFill>
                <a:latin typeface="Segoe UI"/>
              </a:rPr>
              <a:t>Profile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19456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3212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96712" y="226771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96712" y="257860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Let patients request help and follow their own journey.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32120" y="320040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53212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96712" y="327355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96712" y="358444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Scoped to own account only; consent respected.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32120" y="420624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53212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96712" y="427939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96712" y="459028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Convenience, transparency, faster payment.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32120" y="521208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3212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96712" y="528523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96712" y="559612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Bottom nav; live case status; pay balance in-app.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Care Agent App — Field Jobs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AGENT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21792"/>
            <a:ext cx="1126540" cy="274320"/>
          </a:xfrm>
          <a:prstGeom prst="roundRect">
            <a:avLst/>
          </a:prstGeom>
          <a:solidFill>
            <a:srgbClr val="0A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660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358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1136" y="621792"/>
            <a:ext cx="435254" cy="274320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0B5D56"/>
                </a:solidFill>
                <a:latin typeface="Segoe U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0B5D56"/>
                </a:solidFill>
                <a:latin typeface="Segoe UI"/>
              </a:rPr>
              <a:t>Process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702052" cy="566928"/>
          </a:xfrm>
          <a:prstGeom prst="round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1. Login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1197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05556" y="1371600"/>
            <a:ext cx="2702052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2.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29553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53912" y="1371600"/>
            <a:ext cx="270205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3. Accept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77909" y="1655064"/>
            <a:ext cx="10241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02268" y="1371600"/>
            <a:ext cx="2702052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4. OTP 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94560"/>
            <a:ext cx="4937760" cy="3977639"/>
          </a:xfrm>
          <a:prstGeom prst="rect">
            <a:avLst/>
          </a:prstGeom>
          <a:solidFill>
            <a:srgbClr val="ECF1F6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65960" y="2377440"/>
            <a:ext cx="2331720" cy="448056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39112" y="2450592"/>
            <a:ext cx="2185416" cy="433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39112" y="2450592"/>
            <a:ext cx="2185416" cy="64008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9112" y="2596896"/>
            <a:ext cx="218541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360 Care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0552" y="3200400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03704" y="3319272"/>
            <a:ext cx="219456" cy="219456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Available · Offline · GPS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30552" y="3730752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03704" y="3849624"/>
            <a:ext cx="219456" cy="21945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14600" y="3822192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Assigned / Active / Done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30552" y="4261104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203704" y="4379976"/>
            <a:ext cx="219456" cy="21945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14600" y="4352544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Job: Accept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30552" y="4791456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03704" y="4910328"/>
            <a:ext cx="219456" cy="219456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882896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En route + GPS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0552" y="5321808"/>
            <a:ext cx="2002536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03704" y="5440680"/>
            <a:ext cx="219456" cy="219456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14600" y="5413248"/>
            <a:ext cx="1545336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A2233"/>
                </a:solidFill>
                <a:latin typeface="Segoe UI"/>
              </a:rPr>
              <a:t>Pickup / Handover OTP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39112" y="6327648"/>
            <a:ext cx="2185416" cy="457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39112" y="6437376"/>
            <a:ext cx="21854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750" b="1" i="0">
                <a:solidFill>
                  <a:srgbClr val="0B5D56"/>
                </a:solidFill>
                <a:latin typeface="Segoe UI"/>
              </a:rPr>
              <a:t>Jobs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32120" y="219456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32120" y="2194560"/>
            <a:ext cx="82296" cy="8961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96712" y="226771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Segoe UI"/>
              </a:rPr>
              <a:t>Business Objective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96712" y="257860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Give field agents a simple, guided job console.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32120" y="320040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532120" y="3200400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96712" y="327355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Validation Rules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96712" y="358444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Only job-necessary info shown; OTP-verified custody.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32120" y="420624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32120" y="4206240"/>
            <a:ext cx="82296" cy="8961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96712" y="427939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Segoe UI"/>
              </a:rPr>
              <a:t>Business Benefits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6712" y="459028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Faster, error-free field execution; live GPS to control room.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32120" y="5212080"/>
            <a:ext cx="62179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532120" y="52120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96712" y="5285232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Key Highlights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96712" y="5596128"/>
            <a:ext cx="59436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A2233"/>
                </a:solidFill>
                <a:latin typeface="Segoe UI"/>
              </a:rPr>
              <a:t>Duty toggles; job cards; pickup/handover OTP.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Business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66160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74520"/>
            <a:ext cx="23774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2233"/>
                </a:solidFill>
                <a:latin typeface="Segoe UI"/>
              </a:rPr>
              <a:t>Single source of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One Case ID links every event, party &amp; payment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46304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463040"/>
            <a:ext cx="3566160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182880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874520"/>
            <a:ext cx="23774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2233"/>
                </a:solidFill>
                <a:latin typeface="Segoe UI"/>
              </a:rPr>
              <a:t>Faster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97480"/>
            <a:ext cx="3108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Dispatch, book, bill from one console — minutes not hours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146304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1463040"/>
            <a:ext cx="35661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83880" y="182880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874520"/>
            <a:ext cx="23774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2233"/>
                </a:solidFill>
                <a:latin typeface="Segoe UI"/>
              </a:rPr>
              <a:t>Real-time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697480"/>
            <a:ext cx="3108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Live map &amp; feed; emergencies &amp; SLA breaches surfaced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40480"/>
            <a:ext cx="3566160" cy="1097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4206240"/>
            <a:ext cx="640080" cy="6400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251960"/>
            <a:ext cx="23774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2233"/>
                </a:solidFill>
                <a:latin typeface="Segoe UI"/>
              </a:rPr>
              <a:t>Verified &amp; auditable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3108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OTP custody + full audit on every 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84048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840480"/>
            <a:ext cx="3566160" cy="1097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80560" y="4206240"/>
            <a:ext cx="640080" cy="640080"/>
          </a:xfrm>
          <a:prstGeom prst="ellipse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251960"/>
            <a:ext cx="23774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2233"/>
                </a:solidFill>
                <a:latin typeface="Segoe UI"/>
              </a:rPr>
              <a:t>Better patient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20"/>
            <a:ext cx="3108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Transparency, updates and in-app payments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384048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80" y="3840480"/>
            <a:ext cx="3566160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183880" y="4206240"/>
            <a:ext cx="640080" cy="64008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251960"/>
            <a:ext cx="23774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2233"/>
                </a:solidFill>
                <a:latin typeface="Segoe UI"/>
              </a:rPr>
              <a:t>Revenue integrity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5074920"/>
            <a:ext cx="3108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Segoe UI"/>
              </a:rPr>
              <a:t>Rule-based pricing, clean payments &amp; partner settlements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Key KPIs the platform improves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219456"/>
            <a:ext cx="1965960" cy="457200"/>
          </a:xfrm>
          <a:prstGeom prst="roundRect">
            <a:avLst/>
          </a:prstGeom>
          <a:solidFill>
            <a:srgbClr val="0B5D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MEASURABLE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400" b="1" i="0">
                <a:solidFill>
                  <a:srgbClr val="0F766E"/>
                </a:solidFill>
                <a:latin typeface="Segoe UI"/>
              </a:rPr>
              <a:t>↓ 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3566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Coordination time per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55448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82880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400" b="1" i="0">
                <a:solidFill>
                  <a:srgbClr val="2563EB"/>
                </a:solidFill>
                <a:latin typeface="Segoe U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743200"/>
            <a:ext cx="3566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Events traceable to a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55448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182880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400" b="1" i="0">
                <a:solidFill>
                  <a:srgbClr val="7C3AED"/>
                </a:solidFill>
                <a:latin typeface="Segoe UI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2743200"/>
            <a:ext cx="3566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Dispatch accuracy (skill/GPS-matched)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400" b="1" i="0">
                <a:solidFill>
                  <a:srgbClr val="16A34A"/>
                </a:solidFill>
                <a:latin typeface="Segoe UI"/>
              </a:rPr>
              <a:t>SLA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37760"/>
            <a:ext cx="3566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Response &amp; resolution tracked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74904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402336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400" b="1" i="0">
                <a:solidFill>
                  <a:srgbClr val="D97706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4937760"/>
            <a:ext cx="3566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Untracked cash / informal collection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374904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402336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400" b="1" i="0">
                <a:solidFill>
                  <a:srgbClr val="0891B2"/>
                </a:solidFill>
                <a:latin typeface="Segoe UI"/>
              </a:rPr>
              <a:t>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4937760"/>
            <a:ext cx="3566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Fleet &amp; agent utilisation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360° Patient Care &amp; Assistance  ·  Developed by pvalr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8229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327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One trusted coordinator, one Case, one journey.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383280"/>
            <a:ext cx="96012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Segoe UI"/>
              </a:rPr>
              <a:t>The patient explains what help is needed — the platform coordinates the right people, vehicles, hospitals, doctors, care, payments and follow-up, with a complete, auditable, real-time journey.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846320"/>
            <a:ext cx="237744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5029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0B5D56"/>
                </a:solidFill>
                <a:latin typeface="Segoe UI"/>
              </a:rPr>
              <a:t>1. Requirements workshop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4846320"/>
            <a:ext cx="237744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5029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0B5D56"/>
                </a:solidFill>
                <a:latin typeface="Segoe UI"/>
              </a:rPr>
              <a:t>2. MVP backlog sign-off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4846320"/>
            <a:ext cx="237744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5029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0B5D56"/>
                </a:solidFill>
                <a:latin typeface="Segoe UI"/>
              </a:rPr>
              <a:t>3. Integrations (ABDM/Payment)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4846320"/>
            <a:ext cx="237744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5029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0B5D56"/>
                </a:solidFill>
                <a:latin typeface="Segoe UI"/>
              </a:rPr>
              <a:t>4. Security hardening &amp; go-live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Thank you  ·  Developed by pvalr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